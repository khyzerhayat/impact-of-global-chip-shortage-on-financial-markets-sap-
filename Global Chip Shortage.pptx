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22"/>
  </p:notesMasterIdLst>
  <p:sldIdLst>
    <p:sldId id="256" r:id="rId2"/>
    <p:sldId id="257" r:id="rId3"/>
    <p:sldId id="258" r:id="rId4"/>
    <p:sldId id="269" r:id="rId5"/>
    <p:sldId id="266" r:id="rId6"/>
    <p:sldId id="259" r:id="rId7"/>
    <p:sldId id="270" r:id="rId8"/>
    <p:sldId id="267" r:id="rId9"/>
    <p:sldId id="261" r:id="rId10"/>
    <p:sldId id="260" r:id="rId11"/>
    <p:sldId id="272" r:id="rId12"/>
    <p:sldId id="277" r:id="rId13"/>
    <p:sldId id="273" r:id="rId14"/>
    <p:sldId id="274" r:id="rId15"/>
    <p:sldId id="276" r:id="rId16"/>
    <p:sldId id="275" r:id="rId17"/>
    <p:sldId id="262" r:id="rId18"/>
    <p:sldId id="263" r:id="rId19"/>
    <p:sldId id="271" r:id="rId20"/>
    <p:sldId id="26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D27FB0-0294-BC14-2BF4-619ED6389016}" v="348" dt="2025-12-04T03:28:38.787"/>
    <p1510:client id="{9CCEA6E7-11FB-3811-C350-FE8D0958CAED}" v="133" dt="2025-12-03T06:44:50.321"/>
    <p1510:client id="{A6A9CB47-E2D1-9CBA-A5C9-C7EB96040743}" v="13" dt="2025-12-03T16:52:20.406"/>
    <p1510:client id="{F8D8D986-43B8-F2C8-6302-F57B59E337C6}" v="42" dt="2025-12-04T03:30:59.5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DA5D78-D077-4F1D-824F-019BF24FE65E}" type="datetimeFigureOut">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4B403-2DC4-471E-8460-828011947555}" type="slidenum">
              <a:t>‹#›</a:t>
            </a:fld>
            <a:endParaRPr lang="en-US"/>
          </a:p>
        </p:txBody>
      </p:sp>
    </p:spTree>
    <p:extLst>
      <p:ext uri="{BB962C8B-B14F-4D97-AF65-F5344CB8AC3E}">
        <p14:creationId xmlns:p14="http://schemas.microsoft.com/office/powerpoint/2010/main" val="3402749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semiconductor shortage that began in early 2020 disrupted multiple industries and reshaped market dynamics. Sectors heavily dependent on chips—such as consumer electronics, automotive manufacturing, and telecommunications—experienced production delays, higher costs, and supply-chain bottlenecks. Simultaneously, emerging technology sectors including artificial intelligence and clean energy were indirectly affected due to heightened demand for computational hardware.</a:t>
            </a:r>
            <a:br>
              <a:rPr lang="en-US" dirty="0">
                <a:cs typeface="+mn-lt"/>
              </a:rPr>
            </a:br>
            <a:r>
              <a:rPr lang="en-US" dirty="0"/>
              <a:t> This project analyzes how these disruptions influenced financial performance across sectors between 2015 and 2025, focusing on both broad indices and company-level representatives.</a:t>
            </a:r>
          </a:p>
        </p:txBody>
      </p:sp>
      <p:sp>
        <p:nvSpPr>
          <p:cNvPr id="4" name="Slide Number Placeholder 3"/>
          <p:cNvSpPr>
            <a:spLocks noGrp="1"/>
          </p:cNvSpPr>
          <p:nvPr>
            <p:ph type="sldNum" sz="quarter" idx="5"/>
          </p:nvPr>
        </p:nvSpPr>
        <p:spPr/>
        <p:txBody>
          <a:bodyPr/>
          <a:lstStyle/>
          <a:p>
            <a:fld id="{E8B4B403-2DC4-471E-8460-828011947555}" type="slidenum">
              <a:t>2</a:t>
            </a:fld>
            <a:endParaRPr lang="en-US"/>
          </a:p>
        </p:txBody>
      </p:sp>
    </p:spTree>
    <p:extLst>
      <p:ext uri="{BB962C8B-B14F-4D97-AF65-F5344CB8AC3E}">
        <p14:creationId xmlns:p14="http://schemas.microsoft.com/office/powerpoint/2010/main" val="2240204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SOXX volatility more than tripled from Phase 1 → Phase 3.</a:t>
            </a:r>
          </a:p>
          <a:p>
            <a:pPr marL="285750" indent="-285750">
              <a:buFont typeface="Arial"/>
              <a:buChar char="•"/>
            </a:pPr>
            <a:r>
              <a:rPr lang="en-US" dirty="0"/>
              <a:t>Directly impacted sectors (AAPL, INTC, GM) saw their highest volatility during 2020–2022.</a:t>
            </a:r>
          </a:p>
          <a:p>
            <a:pPr marL="285750" indent="-285750">
              <a:buFont typeface="Arial"/>
              <a:buChar char="•"/>
            </a:pPr>
            <a:r>
              <a:rPr lang="en-US" dirty="0"/>
              <a:t>Emerging tech sectors (NVDA, QCOM, FSLR) displayed stronger spikes due to high demand and geo-politics.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8B4B403-2DC4-471E-8460-828011947555}" type="slidenum">
              <a:t>12</a:t>
            </a:fld>
            <a:endParaRPr lang="en-US"/>
          </a:p>
        </p:txBody>
      </p:sp>
    </p:spTree>
    <p:extLst>
      <p:ext uri="{BB962C8B-B14F-4D97-AF65-F5344CB8AC3E}">
        <p14:creationId xmlns:p14="http://schemas.microsoft.com/office/powerpoint/2010/main" val="1997286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t>A significant structural break appears at 2020-01-01 (F = 4.395, p = 0.0124), indicating that the relationship between semiconductor returns and the broader market changed substantially at the onset of the global chip shortage and COVID disruptions.</a:t>
            </a:r>
            <a:br>
              <a:rPr lang="en-US">
                <a:cs typeface="+mn-lt"/>
              </a:rPr>
            </a:br>
            <a:endParaRPr lang="en-US"/>
          </a:p>
          <a:p>
            <a:pPr algn="just"/>
            <a:r>
              <a:rPr lang="en-US"/>
              <a:t>This confirms that Phase 2 (2020–2022) represents a distinct market regime for the semiconductor industry.</a:t>
            </a:r>
          </a:p>
          <a:p>
            <a:pPr algn="just"/>
            <a:r>
              <a:rPr lang="en-US"/>
              <a:t>No significant break is observed at 2023-01-01 (F = 0.701, p = 0.4963), suggesting that although tariff and export-control tensions intensified after 2023, they did not fundamentally alter the SOXX–SPY return dynamics.</a:t>
            </a:r>
            <a:br>
              <a:rPr lang="en-US">
                <a:cs typeface="+mn-lt"/>
              </a:rPr>
            </a:br>
            <a:r>
              <a:rPr lang="en-US"/>
              <a:t>This supports the view that the most pronounced structural impact occurred during 2020–2022 rather than in the post-shortage period.</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E8B4B403-2DC4-471E-8460-828011947555}" type="slidenum">
              <a:t>15</a:t>
            </a:fld>
            <a:endParaRPr lang="en-US"/>
          </a:p>
        </p:txBody>
      </p:sp>
    </p:spTree>
    <p:extLst>
      <p:ext uri="{BB962C8B-B14F-4D97-AF65-F5344CB8AC3E}">
        <p14:creationId xmlns:p14="http://schemas.microsoft.com/office/powerpoint/2010/main" val="2904940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semiconductor shortage fundamentally altered financial behavior across sectors from 2020 onward. Industries directly dependent on chips suffered production bottlenecks and performance declines, while emerging technology firms experienced both growth surges and heightened volatility. The broader market remained relatively stable, suggesting that supply-chain disruptions were concentrated in chip-dependent industries. Overall, the findings demonstrate that semiconductor availability plays a critical role not only in industrial output but also in shaping market behavior and investor expectations.</a:t>
            </a:r>
          </a:p>
        </p:txBody>
      </p:sp>
      <p:sp>
        <p:nvSpPr>
          <p:cNvPr id="4" name="Slide Number Placeholder 3"/>
          <p:cNvSpPr>
            <a:spLocks noGrp="1"/>
          </p:cNvSpPr>
          <p:nvPr>
            <p:ph type="sldNum" sz="quarter" idx="5"/>
          </p:nvPr>
        </p:nvSpPr>
        <p:spPr/>
        <p:txBody>
          <a:bodyPr/>
          <a:lstStyle/>
          <a:p>
            <a:fld id="{E8B4B403-2DC4-471E-8460-828011947555}" type="slidenum">
              <a:t>17</a:t>
            </a:fld>
            <a:endParaRPr lang="en-US"/>
          </a:p>
        </p:txBody>
      </p:sp>
    </p:spTree>
    <p:extLst>
      <p:ext uri="{BB962C8B-B14F-4D97-AF65-F5344CB8AC3E}">
        <p14:creationId xmlns:p14="http://schemas.microsoft.com/office/powerpoint/2010/main" val="3189757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12/3/2025</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20679303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12/3/2025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67253061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12/3/2025</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15255493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12/3/2025</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58631655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12/3/2025</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829121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12/3/2025</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56500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12/3/2025</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639169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12/3/2025</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37322076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12/3/2025</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72019667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12/3/2025</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76539659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12/3/2025</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79579817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12/3/2025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9192360"/>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51082" y="5063247"/>
            <a:ext cx="9689834" cy="1125050"/>
          </a:xfrm>
        </p:spPr>
        <p:txBody>
          <a:bodyPr anchor="b">
            <a:normAutofit fontScale="90000"/>
          </a:bodyPr>
          <a:lstStyle/>
          <a:p>
            <a:pPr algn="ctr"/>
            <a:r>
              <a:rPr lang="en-US"/>
              <a:t>Impact of Global</a:t>
            </a:r>
            <a:r>
              <a:rPr lang="en-US" dirty="0"/>
              <a:t> Chip shortage</a:t>
            </a:r>
            <a:r>
              <a:rPr lang="en-US"/>
              <a:t> on Market</a:t>
            </a:r>
            <a:endParaRPr lang="en-US" dirty="0"/>
          </a:p>
        </p:txBody>
      </p:sp>
      <p:sp>
        <p:nvSpPr>
          <p:cNvPr id="3" name="Subtitle 2"/>
          <p:cNvSpPr>
            <a:spLocks noGrp="1"/>
          </p:cNvSpPr>
          <p:nvPr>
            <p:ph type="subTitle" idx="1"/>
          </p:nvPr>
        </p:nvSpPr>
        <p:spPr>
          <a:xfrm>
            <a:off x="1938997" y="6081887"/>
            <a:ext cx="8314005" cy="696351"/>
          </a:xfrm>
        </p:spPr>
        <p:txBody>
          <a:bodyPr>
            <a:normAutofit/>
          </a:bodyPr>
          <a:lstStyle/>
          <a:p>
            <a:pPr algn="ctr"/>
            <a:r>
              <a:rPr lang="en-US" sz="2800" dirty="0"/>
              <a:t>BAIM635 Capstone Project</a:t>
            </a:r>
          </a:p>
        </p:txBody>
      </p:sp>
      <p:pic>
        <p:nvPicPr>
          <p:cNvPr id="4" name="Picture 3">
            <a:extLst>
              <a:ext uri="{FF2B5EF4-FFF2-40B4-BE49-F238E27FC236}">
                <a16:creationId xmlns:a16="http://schemas.microsoft.com/office/drawing/2014/main" id="{C78693A6-BBD5-A9F0-BA6B-5A937EE076EC}"/>
              </a:ext>
            </a:extLst>
          </p:cNvPr>
          <p:cNvPicPr>
            <a:picLocks noChangeAspect="1"/>
          </p:cNvPicPr>
          <p:nvPr/>
        </p:nvPicPr>
        <p:blipFill>
          <a:blip r:embed="rId2"/>
          <a:srcRect t="10462" r="-2" b="18912"/>
          <a:stretch>
            <a:fillRect/>
          </a:stretch>
        </p:blipFill>
        <p:spPr>
          <a:xfrm>
            <a:off x="20" y="1"/>
            <a:ext cx="12191980" cy="43053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D561C-79B6-5A31-57AE-0663A88E54C3}"/>
              </a:ext>
            </a:extLst>
          </p:cNvPr>
          <p:cNvSpPr>
            <a:spLocks noGrp="1"/>
          </p:cNvSpPr>
          <p:nvPr>
            <p:ph type="title"/>
          </p:nvPr>
        </p:nvSpPr>
        <p:spPr/>
        <p:txBody>
          <a:bodyPr/>
          <a:lstStyle/>
          <a:p>
            <a:r>
              <a:rPr lang="en-US" dirty="0" err="1"/>
              <a:t>IntroDuction</a:t>
            </a:r>
          </a:p>
        </p:txBody>
      </p:sp>
      <p:sp>
        <p:nvSpPr>
          <p:cNvPr id="3" name="Text Placeholder 2">
            <a:extLst>
              <a:ext uri="{FF2B5EF4-FFF2-40B4-BE49-F238E27FC236}">
                <a16:creationId xmlns:a16="http://schemas.microsoft.com/office/drawing/2014/main" id="{C971C2C9-936B-457C-9377-7ABC1F95B120}"/>
              </a:ext>
            </a:extLst>
          </p:cNvPr>
          <p:cNvSpPr>
            <a:spLocks noGrp="1"/>
          </p:cNvSpPr>
          <p:nvPr>
            <p:ph type="body" idx="1"/>
          </p:nvPr>
        </p:nvSpPr>
        <p:spPr/>
        <p:txBody>
          <a:bodyPr vert="horz" lIns="91440" tIns="45720" rIns="91440" bIns="45720" rtlCol="0" anchor="t">
            <a:normAutofit/>
          </a:bodyPr>
          <a:lstStyle/>
          <a:p>
            <a:endParaRPr lang="en-US" dirty="0"/>
          </a:p>
        </p:txBody>
      </p:sp>
      <p:sp>
        <p:nvSpPr>
          <p:cNvPr id="4" name="Date Placeholder 3">
            <a:extLst>
              <a:ext uri="{FF2B5EF4-FFF2-40B4-BE49-F238E27FC236}">
                <a16:creationId xmlns:a16="http://schemas.microsoft.com/office/drawing/2014/main" id="{1B82FABC-DE11-4490-FAF2-B7F8DCD37290}"/>
              </a:ext>
            </a:extLst>
          </p:cNvPr>
          <p:cNvSpPr>
            <a:spLocks noGrp="1"/>
          </p:cNvSpPr>
          <p:nvPr>
            <p:ph type="dt" sz="half" idx="10"/>
          </p:nvPr>
        </p:nvSpPr>
        <p:spPr/>
        <p:txBody>
          <a:bodyPr/>
          <a:lstStyle/>
          <a:p>
            <a:fld id="{3D2D07D4-DB57-4173-A948-7C316557BEF2}" type="datetime1">
              <a:t>12/3/2025</a:t>
            </a:fld>
            <a:endParaRPr lang="en-US" dirty="0"/>
          </a:p>
        </p:txBody>
      </p:sp>
      <p:sp>
        <p:nvSpPr>
          <p:cNvPr id="5" name="Footer Placeholder 4">
            <a:extLst>
              <a:ext uri="{FF2B5EF4-FFF2-40B4-BE49-F238E27FC236}">
                <a16:creationId xmlns:a16="http://schemas.microsoft.com/office/drawing/2014/main" id="{D76F27DE-8537-11E8-BAA6-4E914222884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5A425C5-F859-3E0F-4A5A-6EFB0B5389DB}"/>
              </a:ext>
            </a:extLst>
          </p:cNvPr>
          <p:cNvSpPr>
            <a:spLocks noGrp="1"/>
          </p:cNvSpPr>
          <p:nvPr>
            <p:ph type="sldNum" sz="quarter" idx="12"/>
          </p:nvPr>
        </p:nvSpPr>
        <p:spPr/>
        <p:txBody>
          <a:bodyPr/>
          <a:lstStyle/>
          <a:p>
            <a:fld id="{E30AF5A0-43BB-4336-8627-9123B9144D80}" type="slidenum">
              <a:rPr lang="en-US" dirty="0"/>
              <a:t>2</a:t>
            </a:fld>
            <a:endParaRPr lang="en-US" dirty="0"/>
          </a:p>
        </p:txBody>
      </p:sp>
    </p:spTree>
    <p:extLst>
      <p:ext uri="{BB962C8B-B14F-4D97-AF65-F5344CB8AC3E}">
        <p14:creationId xmlns:p14="http://schemas.microsoft.com/office/powerpoint/2010/main" val="3739580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3C35-0261-9921-CE77-393A82BAFF8D}"/>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66B47610-48F2-A49E-0D32-5B067C78EC30}"/>
              </a:ext>
            </a:extLst>
          </p:cNvPr>
          <p:cNvSpPr>
            <a:spLocks noGrp="1"/>
          </p:cNvSpPr>
          <p:nvPr>
            <p:ph idx="1"/>
          </p:nvPr>
        </p:nvSpPr>
        <p:spPr/>
        <p:txBody>
          <a:bodyPr vert="horz" lIns="91440" tIns="45720" rIns="91440" bIns="45720" rtlCol="0" anchor="t">
            <a:normAutofit/>
          </a:bodyPr>
          <a:lstStyle/>
          <a:p>
            <a:r>
              <a:rPr lang="en-US" b="1" dirty="0">
                <a:ea typeface="+mn-lt"/>
                <a:cs typeface="+mn-lt"/>
              </a:rPr>
              <a:t>Data Range:</a:t>
            </a:r>
            <a:r>
              <a:rPr lang="en-US" dirty="0">
                <a:ea typeface="+mn-lt"/>
                <a:cs typeface="+mn-lt"/>
              </a:rPr>
              <a:t> 2015–2025</a:t>
            </a:r>
            <a:br>
              <a:rPr lang="en-US" dirty="0">
                <a:ea typeface="+mn-lt"/>
                <a:cs typeface="+mn-lt"/>
              </a:rPr>
            </a:br>
            <a:r>
              <a:rPr lang="en-US" dirty="0">
                <a:ea typeface="+mn-lt"/>
                <a:cs typeface="+mn-lt"/>
              </a:rPr>
              <a:t> </a:t>
            </a:r>
            <a:r>
              <a:rPr lang="en-US" b="1" dirty="0">
                <a:ea typeface="+mn-lt"/>
                <a:cs typeface="+mn-lt"/>
              </a:rPr>
              <a:t>Phases Defined:</a:t>
            </a:r>
            <a:endParaRPr lang="en-US" dirty="0"/>
          </a:p>
          <a:p>
            <a:r>
              <a:rPr lang="en-US" i="1">
                <a:ea typeface="+mn-lt"/>
                <a:cs typeface="+mn-lt"/>
              </a:rPr>
              <a:t>Phase 1:</a:t>
            </a:r>
            <a:r>
              <a:rPr lang="en-US">
                <a:ea typeface="+mn-lt"/>
                <a:cs typeface="+mn-lt"/>
              </a:rPr>
              <a:t> Pre-shortage (2015–2019)</a:t>
            </a:r>
            <a:endParaRPr lang="en-US"/>
          </a:p>
          <a:p>
            <a:r>
              <a:rPr lang="en-US" i="1">
                <a:ea typeface="+mn-lt"/>
                <a:cs typeface="+mn-lt"/>
              </a:rPr>
              <a:t>Phase 2:</a:t>
            </a:r>
            <a:r>
              <a:rPr lang="en-US">
                <a:ea typeface="+mn-lt"/>
                <a:cs typeface="+mn-lt"/>
              </a:rPr>
              <a:t> Global chip shortage (2020–2022)</a:t>
            </a:r>
            <a:endParaRPr lang="en-US"/>
          </a:p>
          <a:p>
            <a:r>
              <a:rPr lang="en-US" i="1">
                <a:ea typeface="+mn-lt"/>
                <a:cs typeface="+mn-lt"/>
              </a:rPr>
              <a:t>Phase 3:</a:t>
            </a:r>
            <a:r>
              <a:rPr lang="en-US">
                <a:ea typeface="+mn-lt"/>
                <a:cs typeface="+mn-lt"/>
              </a:rPr>
              <a:t> Post-acute &amp; tariff tensions (2023–2025)</a:t>
            </a:r>
            <a:endParaRPr lang="en-US"/>
          </a:p>
          <a:p>
            <a:endParaRPr lang="en-US" dirty="0"/>
          </a:p>
        </p:txBody>
      </p:sp>
      <p:sp>
        <p:nvSpPr>
          <p:cNvPr id="4" name="Date Placeholder 3">
            <a:extLst>
              <a:ext uri="{FF2B5EF4-FFF2-40B4-BE49-F238E27FC236}">
                <a16:creationId xmlns:a16="http://schemas.microsoft.com/office/drawing/2014/main" id="{0919CC4B-29B5-E65C-B9B7-6E1ED0DF4C5C}"/>
              </a:ext>
            </a:extLst>
          </p:cNvPr>
          <p:cNvSpPr>
            <a:spLocks noGrp="1"/>
          </p:cNvSpPr>
          <p:nvPr>
            <p:ph type="dt" sz="half" idx="10"/>
          </p:nvPr>
        </p:nvSpPr>
        <p:spPr/>
        <p:txBody>
          <a:bodyPr/>
          <a:lstStyle/>
          <a:p>
            <a:fld id="{FFEF8721-49C0-4EC4-AE92-B13851D5C68A}" type="datetime1">
              <a:t>12/3/2025</a:t>
            </a:fld>
            <a:endParaRPr lang="en-US" dirty="0"/>
          </a:p>
        </p:txBody>
      </p:sp>
      <p:sp>
        <p:nvSpPr>
          <p:cNvPr id="5" name="Footer Placeholder 4">
            <a:extLst>
              <a:ext uri="{FF2B5EF4-FFF2-40B4-BE49-F238E27FC236}">
                <a16:creationId xmlns:a16="http://schemas.microsoft.com/office/drawing/2014/main" id="{07456BE7-7F04-54F7-405C-42DF80F04BA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A38CF-6552-D39F-4891-FC121A7FBDCE}"/>
              </a:ext>
            </a:extLst>
          </p:cNvPr>
          <p:cNvSpPr>
            <a:spLocks noGrp="1"/>
          </p:cNvSpPr>
          <p:nvPr>
            <p:ph type="sldNum" sz="quarter" idx="12"/>
          </p:nvPr>
        </p:nvSpPr>
        <p:spPr/>
        <p:txBody>
          <a:bodyPr/>
          <a:lstStyle/>
          <a:p>
            <a:fld id="{E30AF5A0-43BB-4336-8627-9123B9144D80}" type="slidenum">
              <a:rPr lang="en-US" dirty="0"/>
              <a:t>3</a:t>
            </a:fld>
            <a:endParaRPr lang="en-US" dirty="0"/>
          </a:p>
        </p:txBody>
      </p:sp>
    </p:spTree>
    <p:extLst>
      <p:ext uri="{BB962C8B-B14F-4D97-AF65-F5344CB8AC3E}">
        <p14:creationId xmlns:p14="http://schemas.microsoft.com/office/powerpoint/2010/main" val="2277906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3E507-B50C-E15E-6E4C-6F5ED02CE487}"/>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64EB1838-BD2D-0773-0D19-C37D0F140B76}"/>
              </a:ext>
            </a:extLst>
          </p:cNvPr>
          <p:cNvSpPr>
            <a:spLocks noGrp="1"/>
          </p:cNvSpPr>
          <p:nvPr>
            <p:ph idx="1"/>
          </p:nvPr>
        </p:nvSpPr>
        <p:spPr/>
        <p:txBody>
          <a:bodyPr vert="horz" lIns="91440" tIns="45720" rIns="91440" bIns="45720" rtlCol="0" anchor="t">
            <a:noAutofit/>
          </a:bodyPr>
          <a:lstStyle/>
          <a:p>
            <a:r>
              <a:rPr lang="en-US" sz="2000" b="1" dirty="0">
                <a:ea typeface="+mn-lt"/>
                <a:cs typeface="+mn-lt"/>
              </a:rPr>
              <a:t>Sector Representatives:</a:t>
            </a:r>
            <a:br>
              <a:rPr lang="en-US" sz="2000" b="1" dirty="0">
                <a:ea typeface="+mn-lt"/>
                <a:cs typeface="+mn-lt"/>
              </a:rPr>
            </a:br>
            <a:r>
              <a:rPr lang="en-US" sz="2000" b="1" dirty="0">
                <a:ea typeface="+mn-lt"/>
                <a:cs typeface="+mn-lt"/>
              </a:rPr>
              <a:t> Directly Impacted:</a:t>
            </a:r>
            <a:endParaRPr lang="en-US" sz="2000" dirty="0"/>
          </a:p>
          <a:p>
            <a:r>
              <a:rPr lang="en-US" sz="2000" dirty="0">
                <a:ea typeface="+mn-lt"/>
                <a:cs typeface="+mn-lt"/>
              </a:rPr>
              <a:t>Apple (AAPL) – Consumer Electronics</a:t>
            </a:r>
            <a:endParaRPr lang="en-US" sz="2000" dirty="0"/>
          </a:p>
          <a:p>
            <a:r>
              <a:rPr lang="en-US" sz="2000" dirty="0">
                <a:ea typeface="+mn-lt"/>
                <a:cs typeface="+mn-lt"/>
              </a:rPr>
              <a:t>Intel (INTC) – Semiconductor Manufacturing</a:t>
            </a:r>
            <a:endParaRPr lang="en-US" sz="2000" dirty="0"/>
          </a:p>
          <a:p>
            <a:r>
              <a:rPr lang="en-US" sz="2000" dirty="0">
                <a:ea typeface="+mn-lt"/>
                <a:cs typeface="+mn-lt"/>
              </a:rPr>
              <a:t>General Motors (GM) – Automotive</a:t>
            </a:r>
            <a:endParaRPr lang="en-US" sz="2000" dirty="0"/>
          </a:p>
          <a:p>
            <a:r>
              <a:rPr lang="en-US" sz="2000" dirty="0">
                <a:ea typeface="+mn-lt"/>
                <a:cs typeface="+mn-lt"/>
              </a:rPr>
              <a:t>Broadcom (AVGO) – Telecommunications</a:t>
            </a:r>
            <a:endParaRPr lang="en-US" sz="2000" dirty="0"/>
          </a:p>
          <a:p>
            <a:r>
              <a:rPr lang="en-US" sz="2000" b="1" dirty="0">
                <a:ea typeface="+mn-lt"/>
                <a:cs typeface="+mn-lt"/>
              </a:rPr>
              <a:t>Emerging Tech Sectors:</a:t>
            </a:r>
            <a:endParaRPr lang="en-US" sz="2000"/>
          </a:p>
          <a:p>
            <a:r>
              <a:rPr lang="en-US" sz="2000" dirty="0">
                <a:ea typeface="+mn-lt"/>
                <a:cs typeface="+mn-lt"/>
              </a:rPr>
              <a:t>NVIDIA (NVDA) – GPU/AI</a:t>
            </a:r>
            <a:endParaRPr lang="en-US" sz="2000"/>
          </a:p>
          <a:p>
            <a:r>
              <a:rPr lang="en-US" sz="2000" dirty="0">
                <a:ea typeface="+mn-lt"/>
                <a:cs typeface="+mn-lt"/>
              </a:rPr>
              <a:t>Qualcomm (QCOM) – Wireless/5G</a:t>
            </a:r>
            <a:endParaRPr lang="en-US" sz="2000"/>
          </a:p>
          <a:p>
            <a:r>
              <a:rPr lang="en-US" sz="2000" dirty="0">
                <a:ea typeface="+mn-lt"/>
                <a:cs typeface="+mn-lt"/>
              </a:rPr>
              <a:t>First Solar (FSLR) – Clean Energy</a:t>
            </a:r>
            <a:endParaRPr lang="en-US" sz="2000" dirty="0"/>
          </a:p>
        </p:txBody>
      </p:sp>
      <p:sp>
        <p:nvSpPr>
          <p:cNvPr id="4" name="Text Placeholder 3">
            <a:extLst>
              <a:ext uri="{FF2B5EF4-FFF2-40B4-BE49-F238E27FC236}">
                <a16:creationId xmlns:a16="http://schemas.microsoft.com/office/drawing/2014/main" id="{5B239376-C9F9-2F73-2A5F-A90603ADE75A}"/>
              </a:ext>
            </a:extLst>
          </p:cNvPr>
          <p:cNvSpPr>
            <a:spLocks noGrp="1"/>
          </p:cNvSpPr>
          <p:nvPr>
            <p:ph type="body" sz="half" idx="2"/>
          </p:nvPr>
        </p:nvSpPr>
        <p:spPr/>
        <p:txBody>
          <a:bodyPr vert="horz" lIns="91440" tIns="45720" rIns="91440" bIns="45720" rtlCol="0" anchor="t">
            <a:normAutofit/>
          </a:bodyPr>
          <a:lstStyle/>
          <a:p>
            <a:r>
              <a:rPr lang="en-US" sz="2000" b="1" dirty="0">
                <a:ea typeface="+mn-lt"/>
                <a:cs typeface="+mn-lt"/>
              </a:rPr>
              <a:t>Indices:</a:t>
            </a:r>
            <a:endParaRPr lang="en-US" sz="2000"/>
          </a:p>
          <a:p>
            <a:pPr marL="285750" indent="-285750">
              <a:buFont typeface="Arial"/>
              <a:buChar char="•"/>
            </a:pPr>
            <a:r>
              <a:rPr lang="en-US" sz="2000" dirty="0">
                <a:ea typeface="+mn-lt"/>
                <a:cs typeface="+mn-lt"/>
              </a:rPr>
              <a:t>SOXX – Semiconductor ETF</a:t>
            </a:r>
            <a:endParaRPr lang="en-US" sz="2000"/>
          </a:p>
          <a:p>
            <a:pPr marL="285750" indent="-285750">
              <a:buFont typeface="Arial"/>
              <a:buChar char="•"/>
            </a:pPr>
            <a:r>
              <a:rPr lang="en-US" sz="2000" dirty="0">
                <a:ea typeface="+mn-lt"/>
                <a:cs typeface="+mn-lt"/>
              </a:rPr>
              <a:t>SPY – S&amp;P500 ETF</a:t>
            </a:r>
            <a:endParaRPr lang="en-US" sz="2000" dirty="0"/>
          </a:p>
          <a:p>
            <a:endParaRPr lang="en-US" dirty="0"/>
          </a:p>
        </p:txBody>
      </p:sp>
      <p:sp>
        <p:nvSpPr>
          <p:cNvPr id="5" name="Date Placeholder 4">
            <a:extLst>
              <a:ext uri="{FF2B5EF4-FFF2-40B4-BE49-F238E27FC236}">
                <a16:creationId xmlns:a16="http://schemas.microsoft.com/office/drawing/2014/main" id="{917DA7B5-D14D-4B93-671C-FB4076C98835}"/>
              </a:ext>
            </a:extLst>
          </p:cNvPr>
          <p:cNvSpPr>
            <a:spLocks noGrp="1"/>
          </p:cNvSpPr>
          <p:nvPr>
            <p:ph type="dt" sz="half" idx="10"/>
          </p:nvPr>
        </p:nvSpPr>
        <p:spPr/>
        <p:txBody>
          <a:bodyPr/>
          <a:lstStyle/>
          <a:p>
            <a:fld id="{B8BB936E-B149-40A5-B3D0-DFBCFCCD8737}" type="datetime1">
              <a:t>12/3/2025</a:t>
            </a:fld>
            <a:endParaRPr lang="en-US" dirty="0"/>
          </a:p>
        </p:txBody>
      </p:sp>
      <p:sp>
        <p:nvSpPr>
          <p:cNvPr id="6" name="Footer Placeholder 5">
            <a:extLst>
              <a:ext uri="{FF2B5EF4-FFF2-40B4-BE49-F238E27FC236}">
                <a16:creationId xmlns:a16="http://schemas.microsoft.com/office/drawing/2014/main" id="{77CE3A43-DDE5-8379-044D-99B37FE8DE18}"/>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6D33A94-E2CB-7B74-6318-22BB2E4E7297}"/>
              </a:ext>
            </a:extLst>
          </p:cNvPr>
          <p:cNvSpPr>
            <a:spLocks noGrp="1"/>
          </p:cNvSpPr>
          <p:nvPr>
            <p:ph type="sldNum" sz="quarter" idx="12"/>
          </p:nvPr>
        </p:nvSpPr>
        <p:spPr/>
        <p:txBody>
          <a:bodyPr/>
          <a:lstStyle/>
          <a:p>
            <a:fld id="{E30AF5A0-43BB-4336-8627-9123B9144D80}" type="slidenum">
              <a:rPr lang="en-US" dirty="0"/>
              <a:t>4</a:t>
            </a:fld>
            <a:endParaRPr lang="en-US" dirty="0"/>
          </a:p>
        </p:txBody>
      </p:sp>
    </p:spTree>
    <p:extLst>
      <p:ext uri="{BB962C8B-B14F-4D97-AF65-F5344CB8AC3E}">
        <p14:creationId xmlns:p14="http://schemas.microsoft.com/office/powerpoint/2010/main" val="3745488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B1821-E9D6-763C-C323-2898662735BE}"/>
              </a:ext>
            </a:extLst>
          </p:cNvPr>
          <p:cNvSpPr>
            <a:spLocks noGrp="1"/>
          </p:cNvSpPr>
          <p:nvPr>
            <p:ph type="title"/>
          </p:nvPr>
        </p:nvSpPr>
        <p:spPr/>
        <p:txBody>
          <a:bodyPr/>
          <a:lstStyle/>
          <a:p>
            <a:r>
              <a:rPr lang="en-US" dirty="0"/>
              <a:t>EDA</a:t>
            </a:r>
          </a:p>
        </p:txBody>
      </p:sp>
      <p:sp>
        <p:nvSpPr>
          <p:cNvPr id="3" name="Text Placeholder 2">
            <a:extLst>
              <a:ext uri="{FF2B5EF4-FFF2-40B4-BE49-F238E27FC236}">
                <a16:creationId xmlns:a16="http://schemas.microsoft.com/office/drawing/2014/main" id="{1E0D82A1-49E0-A713-3DA2-070C034D0ABD}"/>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9A61340-D787-8500-5B31-5F328EFAD193}"/>
              </a:ext>
            </a:extLst>
          </p:cNvPr>
          <p:cNvSpPr>
            <a:spLocks noGrp="1"/>
          </p:cNvSpPr>
          <p:nvPr>
            <p:ph type="dt" sz="half" idx="10"/>
          </p:nvPr>
        </p:nvSpPr>
        <p:spPr/>
        <p:txBody>
          <a:bodyPr/>
          <a:lstStyle/>
          <a:p>
            <a:fld id="{5DC9A1DB-77BD-44A5-92B3-32BF9D0189E9}" type="datetime1">
              <a:t>12/3/2025</a:t>
            </a:fld>
            <a:endParaRPr lang="en-US" dirty="0"/>
          </a:p>
        </p:txBody>
      </p:sp>
      <p:sp>
        <p:nvSpPr>
          <p:cNvPr id="5" name="Footer Placeholder 4">
            <a:extLst>
              <a:ext uri="{FF2B5EF4-FFF2-40B4-BE49-F238E27FC236}">
                <a16:creationId xmlns:a16="http://schemas.microsoft.com/office/drawing/2014/main" id="{11D52CA3-3E00-6A24-F719-BE2FC6E7309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4071D42-F3A5-EA17-E4C8-321B0CAE19B7}"/>
              </a:ext>
            </a:extLst>
          </p:cNvPr>
          <p:cNvSpPr>
            <a:spLocks noGrp="1"/>
          </p:cNvSpPr>
          <p:nvPr>
            <p:ph type="sldNum" sz="quarter" idx="12"/>
          </p:nvPr>
        </p:nvSpPr>
        <p:spPr/>
        <p:txBody>
          <a:bodyPr/>
          <a:lstStyle/>
          <a:p>
            <a:fld id="{E30AF5A0-43BB-4336-8627-9123B9144D80}" type="slidenum">
              <a:rPr lang="en-US" dirty="0"/>
              <a:t>5</a:t>
            </a:fld>
            <a:endParaRPr lang="en-US" dirty="0"/>
          </a:p>
        </p:txBody>
      </p:sp>
    </p:spTree>
    <p:extLst>
      <p:ext uri="{BB962C8B-B14F-4D97-AF65-F5344CB8AC3E}">
        <p14:creationId xmlns:p14="http://schemas.microsoft.com/office/powerpoint/2010/main" val="1699536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CA03E-5794-9FBA-BA16-23CB6F40C416}"/>
              </a:ext>
            </a:extLst>
          </p:cNvPr>
          <p:cNvSpPr>
            <a:spLocks noGrp="1"/>
          </p:cNvSpPr>
          <p:nvPr>
            <p:ph type="title"/>
          </p:nvPr>
        </p:nvSpPr>
        <p:spPr/>
        <p:txBody>
          <a:bodyPr/>
          <a:lstStyle/>
          <a:p>
            <a:r>
              <a:rPr lang="en-US" dirty="0">
                <a:ea typeface="+mj-lt"/>
                <a:cs typeface="+mj-lt"/>
              </a:rPr>
              <a:t>SQL Query &amp; Data Extraction Summary</a:t>
            </a:r>
            <a:endParaRPr lang="en-US" dirty="0"/>
          </a:p>
        </p:txBody>
      </p:sp>
      <p:sp>
        <p:nvSpPr>
          <p:cNvPr id="3" name="Content Placeholder 2">
            <a:extLst>
              <a:ext uri="{FF2B5EF4-FFF2-40B4-BE49-F238E27FC236}">
                <a16:creationId xmlns:a16="http://schemas.microsoft.com/office/drawing/2014/main" id="{BB618ADF-25BC-7700-A2F2-C6179E4BBF25}"/>
              </a:ext>
            </a:extLst>
          </p:cNvPr>
          <p:cNvSpPr>
            <a:spLocks noGrp="1"/>
          </p:cNvSpPr>
          <p:nvPr>
            <p:ph idx="1"/>
          </p:nvPr>
        </p:nvSpPr>
        <p:spPr/>
        <p:txBody>
          <a:bodyPr vert="horz" lIns="91440" tIns="45720" rIns="91440" bIns="45720" rtlCol="0" anchor="t">
            <a:normAutofit/>
          </a:bodyPr>
          <a:lstStyle/>
          <a:p>
            <a:r>
              <a:rPr lang="en-US" dirty="0">
                <a:ea typeface="+mn-lt"/>
                <a:cs typeface="+mn-lt"/>
              </a:rPr>
              <a:t>Extracted minute-level data for each ticker from the </a:t>
            </a:r>
            <a:r>
              <a:rPr lang="en-US" i="1" dirty="0">
                <a:ea typeface="+mn-lt"/>
                <a:cs typeface="+mn-lt"/>
              </a:rPr>
              <a:t>polygon_1m_bars</a:t>
            </a:r>
            <a:r>
              <a:rPr lang="en-US" dirty="0">
                <a:ea typeface="+mn-lt"/>
                <a:cs typeface="+mn-lt"/>
              </a:rPr>
              <a:t> schema.</a:t>
            </a:r>
            <a:endParaRPr lang="en-US" dirty="0"/>
          </a:p>
          <a:p>
            <a:r>
              <a:rPr lang="en-US" dirty="0">
                <a:ea typeface="+mn-lt"/>
                <a:cs typeface="+mn-lt"/>
              </a:rPr>
              <a:t>Selected the last 1-minute closing price (between 09:30–16:00) for each trading day.</a:t>
            </a:r>
            <a:endParaRPr lang="en-US" dirty="0"/>
          </a:p>
          <a:p>
            <a:r>
              <a:rPr lang="en-US" dirty="0">
                <a:ea typeface="+mn-lt"/>
                <a:cs typeface="+mn-lt"/>
              </a:rPr>
              <a:t>Removed weekends and all NYSE holidays (2015–2025).</a:t>
            </a:r>
            <a:endParaRPr lang="en-US" dirty="0"/>
          </a:p>
          <a:p>
            <a:r>
              <a:rPr lang="en-US" dirty="0">
                <a:ea typeface="+mn-lt"/>
                <a:cs typeface="+mn-lt"/>
              </a:rPr>
              <a:t>Consolidated final dataset included daily closing prices for all selected tickers.</a:t>
            </a:r>
            <a:endParaRPr lang="en-US" dirty="0"/>
          </a:p>
          <a:p>
            <a:r>
              <a:rPr lang="en-US" dirty="0">
                <a:ea typeface="+mn-lt"/>
                <a:cs typeface="+mn-lt"/>
              </a:rPr>
              <a:t>Resulted in a complete day-level time series for indices and sector representatives, enabling consistent comparisons.</a:t>
            </a:r>
            <a:endParaRPr lang="en-US" dirty="0"/>
          </a:p>
          <a:p>
            <a:endParaRPr lang="en-US" dirty="0"/>
          </a:p>
        </p:txBody>
      </p:sp>
      <p:sp>
        <p:nvSpPr>
          <p:cNvPr id="4" name="Date Placeholder 3">
            <a:extLst>
              <a:ext uri="{FF2B5EF4-FFF2-40B4-BE49-F238E27FC236}">
                <a16:creationId xmlns:a16="http://schemas.microsoft.com/office/drawing/2014/main" id="{FAE2D8AE-E3BB-05D6-62E1-04C7F09205F0}"/>
              </a:ext>
            </a:extLst>
          </p:cNvPr>
          <p:cNvSpPr>
            <a:spLocks noGrp="1"/>
          </p:cNvSpPr>
          <p:nvPr>
            <p:ph type="dt" sz="half" idx="10"/>
          </p:nvPr>
        </p:nvSpPr>
        <p:spPr/>
        <p:txBody>
          <a:bodyPr/>
          <a:lstStyle/>
          <a:p>
            <a:fld id="{8D9BE4FC-D6C4-4E16-8478-E9733A7DA749}" type="datetime1">
              <a:t>12/3/2025</a:t>
            </a:fld>
            <a:endParaRPr lang="en-US" dirty="0"/>
          </a:p>
        </p:txBody>
      </p:sp>
      <p:sp>
        <p:nvSpPr>
          <p:cNvPr id="5" name="Footer Placeholder 4">
            <a:extLst>
              <a:ext uri="{FF2B5EF4-FFF2-40B4-BE49-F238E27FC236}">
                <a16:creationId xmlns:a16="http://schemas.microsoft.com/office/drawing/2014/main" id="{1FE694D9-682F-0BD3-6CB6-C6E46229E0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791E6C-5A00-71CB-6B9C-3638F018EB0F}"/>
              </a:ext>
            </a:extLst>
          </p:cNvPr>
          <p:cNvSpPr>
            <a:spLocks noGrp="1"/>
          </p:cNvSpPr>
          <p:nvPr>
            <p:ph type="sldNum" sz="quarter" idx="12"/>
          </p:nvPr>
        </p:nvSpPr>
        <p:spPr/>
        <p:txBody>
          <a:bodyPr/>
          <a:lstStyle/>
          <a:p>
            <a:fld id="{E30AF5A0-43BB-4336-8627-9123B9144D80}" type="slidenum">
              <a:rPr lang="en-US" dirty="0"/>
              <a:t>6</a:t>
            </a:fld>
            <a:endParaRPr lang="en-US" dirty="0"/>
          </a:p>
        </p:txBody>
      </p:sp>
    </p:spTree>
    <p:extLst>
      <p:ext uri="{BB962C8B-B14F-4D97-AF65-F5344CB8AC3E}">
        <p14:creationId xmlns:p14="http://schemas.microsoft.com/office/powerpoint/2010/main" val="3712506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2BFAE-2AF5-286F-6460-09DDDEA01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1DDD9-EB40-841A-7AA9-4CF94B382610}"/>
              </a:ext>
            </a:extLst>
          </p:cNvPr>
          <p:cNvSpPr>
            <a:spLocks noGrp="1"/>
          </p:cNvSpPr>
          <p:nvPr>
            <p:ph type="title"/>
          </p:nvPr>
        </p:nvSpPr>
        <p:spPr/>
        <p:txBody>
          <a:bodyPr/>
          <a:lstStyle/>
          <a:p>
            <a:r>
              <a:rPr lang="en-US" dirty="0">
                <a:ea typeface="+mj-lt"/>
                <a:cs typeface="+mj-lt"/>
              </a:rPr>
              <a:t>SQL Query &amp; Data Extraction Summary</a:t>
            </a:r>
            <a:endParaRPr lang="en-US" dirty="0"/>
          </a:p>
        </p:txBody>
      </p:sp>
      <p:sp>
        <p:nvSpPr>
          <p:cNvPr id="4" name="Date Placeholder 3">
            <a:extLst>
              <a:ext uri="{FF2B5EF4-FFF2-40B4-BE49-F238E27FC236}">
                <a16:creationId xmlns:a16="http://schemas.microsoft.com/office/drawing/2014/main" id="{FEF8EC03-0C65-8A22-D8E5-195E16D1F0EA}"/>
              </a:ext>
            </a:extLst>
          </p:cNvPr>
          <p:cNvSpPr>
            <a:spLocks noGrp="1"/>
          </p:cNvSpPr>
          <p:nvPr>
            <p:ph type="dt" sz="half" idx="10"/>
          </p:nvPr>
        </p:nvSpPr>
        <p:spPr/>
        <p:txBody>
          <a:bodyPr/>
          <a:lstStyle/>
          <a:p>
            <a:fld id="{8D9BE4FC-D6C4-4E16-8478-E9733A7DA749}" type="datetime1">
              <a:t>12/3/2025</a:t>
            </a:fld>
            <a:endParaRPr lang="en-US" dirty="0"/>
          </a:p>
        </p:txBody>
      </p:sp>
      <p:sp>
        <p:nvSpPr>
          <p:cNvPr id="5" name="Footer Placeholder 4">
            <a:extLst>
              <a:ext uri="{FF2B5EF4-FFF2-40B4-BE49-F238E27FC236}">
                <a16:creationId xmlns:a16="http://schemas.microsoft.com/office/drawing/2014/main" id="{EEA28433-E451-C0EB-E947-A5D022604F8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742EC6-CD2F-6389-6EB6-381F6039B29E}"/>
              </a:ext>
            </a:extLst>
          </p:cNvPr>
          <p:cNvSpPr>
            <a:spLocks noGrp="1"/>
          </p:cNvSpPr>
          <p:nvPr>
            <p:ph type="sldNum" sz="quarter" idx="12"/>
          </p:nvPr>
        </p:nvSpPr>
        <p:spPr/>
        <p:txBody>
          <a:bodyPr/>
          <a:lstStyle/>
          <a:p>
            <a:fld id="{E30AF5A0-43BB-4336-8627-9123B9144D80}" type="slidenum">
              <a:rPr lang="en-US" dirty="0"/>
              <a:t>7</a:t>
            </a:fld>
            <a:endParaRPr lang="en-US" dirty="0"/>
          </a:p>
        </p:txBody>
      </p:sp>
      <p:pic>
        <p:nvPicPr>
          <p:cNvPr id="9" name="Content Placeholder 8" descr="A screenshot of a computer&#10;&#10;AI-generated content may be incorrect.">
            <a:extLst>
              <a:ext uri="{FF2B5EF4-FFF2-40B4-BE49-F238E27FC236}">
                <a16:creationId xmlns:a16="http://schemas.microsoft.com/office/drawing/2014/main" id="{D548055A-96F6-3499-3E54-D646EF31E238}"/>
              </a:ext>
            </a:extLst>
          </p:cNvPr>
          <p:cNvPicPr>
            <a:picLocks noGrp="1" noChangeAspect="1"/>
          </p:cNvPicPr>
          <p:nvPr>
            <p:ph idx="1"/>
          </p:nvPr>
        </p:nvPicPr>
        <p:blipFill>
          <a:blip r:embed="rId2"/>
          <a:stretch>
            <a:fillRect/>
          </a:stretch>
        </p:blipFill>
        <p:spPr>
          <a:xfrm>
            <a:off x="2630610" y="1904937"/>
            <a:ext cx="3136333" cy="4182427"/>
          </a:xfrm>
          <a:prstGeom prst="rect">
            <a:avLst/>
          </a:prstGeom>
        </p:spPr>
      </p:pic>
      <p:pic>
        <p:nvPicPr>
          <p:cNvPr id="10" name="Picture 9" descr="A screenshot of a computer code&#10;&#10;AI-generated content may be incorrect.">
            <a:extLst>
              <a:ext uri="{FF2B5EF4-FFF2-40B4-BE49-F238E27FC236}">
                <a16:creationId xmlns:a16="http://schemas.microsoft.com/office/drawing/2014/main" id="{45B3AD86-E28E-CB69-E4F6-58A74C3E867A}"/>
              </a:ext>
            </a:extLst>
          </p:cNvPr>
          <p:cNvPicPr>
            <a:picLocks noChangeAspect="1"/>
          </p:cNvPicPr>
          <p:nvPr/>
        </p:nvPicPr>
        <p:blipFill>
          <a:blip r:embed="rId3"/>
          <a:stretch>
            <a:fillRect/>
          </a:stretch>
        </p:blipFill>
        <p:spPr>
          <a:xfrm>
            <a:off x="6873673" y="1897811"/>
            <a:ext cx="2700353" cy="4183811"/>
          </a:xfrm>
          <a:prstGeom prst="rect">
            <a:avLst/>
          </a:prstGeom>
        </p:spPr>
      </p:pic>
    </p:spTree>
    <p:extLst>
      <p:ext uri="{BB962C8B-B14F-4D97-AF65-F5344CB8AC3E}">
        <p14:creationId xmlns:p14="http://schemas.microsoft.com/office/powerpoint/2010/main" val="11985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0B05A-4071-AEF5-085A-FB1D1D2F87F8}"/>
              </a:ext>
            </a:extLst>
          </p:cNvPr>
          <p:cNvSpPr>
            <a:spLocks noGrp="1"/>
          </p:cNvSpPr>
          <p:nvPr>
            <p:ph type="title"/>
          </p:nvPr>
        </p:nvSpPr>
        <p:spPr/>
        <p:txBody>
          <a:bodyPr/>
          <a:lstStyle/>
          <a:p>
            <a:r>
              <a:rPr lang="en-US"/>
              <a:t>ANALYSIS Methods</a:t>
            </a:r>
          </a:p>
        </p:txBody>
      </p:sp>
      <p:sp>
        <p:nvSpPr>
          <p:cNvPr id="3" name="Content Placeholder 2">
            <a:extLst>
              <a:ext uri="{FF2B5EF4-FFF2-40B4-BE49-F238E27FC236}">
                <a16:creationId xmlns:a16="http://schemas.microsoft.com/office/drawing/2014/main" id="{09008DEC-E796-0EA1-01E3-65A59CB38DB1}"/>
              </a:ext>
            </a:extLst>
          </p:cNvPr>
          <p:cNvSpPr>
            <a:spLocks noGrp="1"/>
          </p:cNvSpPr>
          <p:nvPr>
            <p:ph idx="1"/>
          </p:nvPr>
        </p:nvSpPr>
        <p:spPr>
          <a:xfrm>
            <a:off x="715012" y="1718032"/>
            <a:ext cx="10590624" cy="4297446"/>
          </a:xfrm>
        </p:spPr>
        <p:txBody>
          <a:bodyPr vert="horz" lIns="91440" tIns="45720" rIns="91440" bIns="45720" rtlCol="0" anchor="t">
            <a:normAutofit fontScale="92500" lnSpcReduction="20000"/>
          </a:bodyPr>
          <a:lstStyle/>
          <a:p>
            <a:r>
              <a:rPr lang="en-US" b="1">
                <a:ea typeface="+mn-lt"/>
                <a:cs typeface="+mn-lt"/>
              </a:rPr>
              <a:t>1. Returns Comparison</a:t>
            </a:r>
            <a:br>
              <a:rPr lang="en-US" b="1">
                <a:ea typeface="+mn-lt"/>
                <a:cs typeface="+mn-lt"/>
              </a:rPr>
            </a:br>
            <a:r>
              <a:rPr lang="en-US" b="1">
                <a:ea typeface="+mn-lt"/>
                <a:cs typeface="+mn-lt"/>
              </a:rPr>
              <a:t> Measured how sector performance changed across the three phases.</a:t>
            </a:r>
            <a:endParaRPr lang="en-US"/>
          </a:p>
          <a:p>
            <a:r>
              <a:rPr lang="en-US" b="1">
                <a:ea typeface="+mn-lt"/>
                <a:cs typeface="+mn-lt"/>
              </a:rPr>
              <a:t>2. Volatility Analysis</a:t>
            </a:r>
            <a:br>
              <a:rPr lang="en-US" b="1">
                <a:ea typeface="+mn-lt"/>
                <a:cs typeface="+mn-lt"/>
              </a:rPr>
            </a:br>
            <a:r>
              <a:rPr lang="en-US" b="1">
                <a:ea typeface="+mn-lt"/>
                <a:cs typeface="+mn-lt"/>
              </a:rPr>
              <a:t> Standard deviation of daily returns to evaluate sensitivity to supply-chain stress.</a:t>
            </a:r>
            <a:endParaRPr lang="en-US"/>
          </a:p>
          <a:p>
            <a:r>
              <a:rPr lang="en-US" b="1">
                <a:ea typeface="+mn-lt"/>
                <a:cs typeface="+mn-lt"/>
              </a:rPr>
              <a:t>3. Correlation Analysis</a:t>
            </a:r>
            <a:br>
              <a:rPr lang="en-US" b="1">
                <a:ea typeface="+mn-lt"/>
                <a:cs typeface="+mn-lt"/>
              </a:rPr>
            </a:br>
            <a:r>
              <a:rPr lang="en-US" b="1">
                <a:ea typeface="+mn-lt"/>
                <a:cs typeface="+mn-lt"/>
              </a:rPr>
              <a:t> Assessed co-movement between SOXX, SPY, and sector representatives.</a:t>
            </a:r>
            <a:endParaRPr lang="en-US"/>
          </a:p>
          <a:p>
            <a:r>
              <a:rPr lang="en-US" b="1">
                <a:ea typeface="+mn-lt"/>
                <a:cs typeface="+mn-lt"/>
              </a:rPr>
              <a:t>4. Association Mining</a:t>
            </a:r>
            <a:br>
              <a:rPr lang="en-US" b="1">
                <a:ea typeface="+mn-lt"/>
                <a:cs typeface="+mn-lt"/>
              </a:rPr>
            </a:br>
            <a:r>
              <a:rPr lang="en-US" b="1">
                <a:ea typeface="+mn-lt"/>
                <a:cs typeface="+mn-lt"/>
              </a:rPr>
              <a:t>Estimated how strongly each stock's returns depended on SOXX.</a:t>
            </a:r>
            <a:endParaRPr lang="en-US"/>
          </a:p>
          <a:p>
            <a:r>
              <a:rPr lang="en-US" b="1">
                <a:ea typeface="+mn-lt"/>
                <a:cs typeface="+mn-lt"/>
              </a:rPr>
              <a:t>5. Structural Break Test (Chow Test)</a:t>
            </a:r>
            <a:br>
              <a:rPr lang="en-US" b="1">
                <a:ea typeface="+mn-lt"/>
                <a:cs typeface="+mn-lt"/>
              </a:rPr>
            </a:br>
            <a:r>
              <a:rPr lang="en-US" b="1">
                <a:ea typeface="+mn-lt"/>
                <a:cs typeface="+mn-lt"/>
              </a:rPr>
              <a:t> Checked whether market behavior changed significantly at known disruption points (2020 and 2023).</a:t>
            </a:r>
            <a:endParaRPr lang="en-US"/>
          </a:p>
          <a:p>
            <a:r>
              <a:rPr lang="en-US" b="1">
                <a:ea typeface="+mn-lt"/>
                <a:cs typeface="+mn-lt"/>
              </a:rPr>
              <a:t>6. Clustering (K-means)</a:t>
            </a:r>
            <a:br>
              <a:rPr lang="en-US" b="1">
                <a:ea typeface="+mn-lt"/>
                <a:cs typeface="+mn-lt"/>
              </a:rPr>
            </a:br>
            <a:r>
              <a:rPr lang="en-US" b="1">
                <a:ea typeface="+mn-lt"/>
                <a:cs typeface="+mn-lt"/>
              </a:rPr>
              <a:t> Grouped companies based on phase-wise returns and volatility.</a:t>
            </a:r>
            <a:endParaRPr lang="en-US"/>
          </a:p>
          <a:p>
            <a:endParaRPr lang="en-US" b="1"/>
          </a:p>
          <a:p>
            <a:endParaRPr lang="en-US"/>
          </a:p>
        </p:txBody>
      </p:sp>
      <p:sp>
        <p:nvSpPr>
          <p:cNvPr id="4" name="Date Placeholder 3">
            <a:extLst>
              <a:ext uri="{FF2B5EF4-FFF2-40B4-BE49-F238E27FC236}">
                <a16:creationId xmlns:a16="http://schemas.microsoft.com/office/drawing/2014/main" id="{B85F96CE-0241-DF32-FD5E-DB2AF663E75E}"/>
              </a:ext>
            </a:extLst>
          </p:cNvPr>
          <p:cNvSpPr>
            <a:spLocks noGrp="1"/>
          </p:cNvSpPr>
          <p:nvPr>
            <p:ph type="dt" sz="half" idx="10"/>
          </p:nvPr>
        </p:nvSpPr>
        <p:spPr/>
        <p:txBody>
          <a:bodyPr/>
          <a:lstStyle/>
          <a:p>
            <a:fld id="{655EF8F5-1262-4B7A-BF85-D562CBA1C834}" type="datetime1">
              <a:t>12/3/2025</a:t>
            </a:fld>
            <a:endParaRPr lang="en-US"/>
          </a:p>
        </p:txBody>
      </p:sp>
      <p:sp>
        <p:nvSpPr>
          <p:cNvPr id="5" name="Footer Placeholder 4">
            <a:extLst>
              <a:ext uri="{FF2B5EF4-FFF2-40B4-BE49-F238E27FC236}">
                <a16:creationId xmlns:a16="http://schemas.microsoft.com/office/drawing/2014/main" id="{8CEAF141-1464-1383-B765-F9832A6D9E1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EE963EF-2B11-872B-4FC2-8547F240A7F6}"/>
              </a:ext>
            </a:extLst>
          </p:cNvPr>
          <p:cNvSpPr>
            <a:spLocks noGrp="1"/>
          </p:cNvSpPr>
          <p:nvPr>
            <p:ph type="sldNum" sz="quarter" idx="12"/>
          </p:nvPr>
        </p:nvSpPr>
        <p:spPr/>
        <p:txBody>
          <a:bodyPr/>
          <a:lstStyle/>
          <a:p>
            <a:fld id="{E30AF5A0-43BB-4336-8627-9123B9144D80}" type="slidenum">
              <a:rPr lang="en-US" dirty="0"/>
              <a:t>8</a:t>
            </a:fld>
            <a:endParaRPr lang="en-US"/>
          </a:p>
        </p:txBody>
      </p:sp>
    </p:spTree>
    <p:extLst>
      <p:ext uri="{BB962C8B-B14F-4D97-AF65-F5344CB8AC3E}">
        <p14:creationId xmlns:p14="http://schemas.microsoft.com/office/powerpoint/2010/main" val="1570508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EA898-0D69-A46F-1C67-5601480CF072}"/>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6C030F99-24F9-CF09-9CB9-DEEEC658E0D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97042E0-CA80-0CA7-F574-CE28600D150B}"/>
              </a:ext>
            </a:extLst>
          </p:cNvPr>
          <p:cNvSpPr>
            <a:spLocks noGrp="1"/>
          </p:cNvSpPr>
          <p:nvPr>
            <p:ph type="dt" sz="half" idx="10"/>
          </p:nvPr>
        </p:nvSpPr>
        <p:spPr/>
        <p:txBody>
          <a:bodyPr/>
          <a:lstStyle/>
          <a:p>
            <a:fld id="{F180E602-3A6E-4033-886A-6397B126F287}" type="datetime1">
              <a:t>12/3/2025</a:t>
            </a:fld>
            <a:endParaRPr lang="en-US" dirty="0"/>
          </a:p>
        </p:txBody>
      </p:sp>
      <p:sp>
        <p:nvSpPr>
          <p:cNvPr id="5" name="Footer Placeholder 4">
            <a:extLst>
              <a:ext uri="{FF2B5EF4-FFF2-40B4-BE49-F238E27FC236}">
                <a16:creationId xmlns:a16="http://schemas.microsoft.com/office/drawing/2014/main" id="{82641398-C258-D6CE-59B6-0BB0BD0E275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65F6697-37FA-E41F-7A8F-BE1D7406E816}"/>
              </a:ext>
            </a:extLst>
          </p:cNvPr>
          <p:cNvSpPr>
            <a:spLocks noGrp="1"/>
          </p:cNvSpPr>
          <p:nvPr>
            <p:ph type="sldNum" sz="quarter" idx="12"/>
          </p:nvPr>
        </p:nvSpPr>
        <p:spPr/>
        <p:txBody>
          <a:bodyPr/>
          <a:lstStyle/>
          <a:p>
            <a:fld id="{E30AF5A0-43BB-4336-8627-9123B9144D80}" type="slidenum">
              <a:rPr lang="en-US" dirty="0"/>
              <a:t>9</a:t>
            </a:fld>
            <a:endParaRPr lang="en-US" dirty="0"/>
          </a:p>
        </p:txBody>
      </p:sp>
    </p:spTree>
    <p:extLst>
      <p:ext uri="{BB962C8B-B14F-4D97-AF65-F5344CB8AC3E}">
        <p14:creationId xmlns:p14="http://schemas.microsoft.com/office/powerpoint/2010/main" val="436002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9403-F5C1-9BAF-A2FC-B533E025404F}"/>
              </a:ext>
            </a:extLst>
          </p:cNvPr>
          <p:cNvSpPr>
            <a:spLocks noGrp="1"/>
          </p:cNvSpPr>
          <p:nvPr>
            <p:ph type="title"/>
          </p:nvPr>
        </p:nvSpPr>
        <p:spPr/>
        <p:txBody>
          <a:bodyPr/>
          <a:lstStyle/>
          <a:p>
            <a:r>
              <a:rPr lang="en-US"/>
              <a:t>Line chart (INDICES)</a:t>
            </a:r>
          </a:p>
        </p:txBody>
      </p:sp>
      <p:pic>
        <p:nvPicPr>
          <p:cNvPr id="7" name="Content Placeholder 6">
            <a:extLst>
              <a:ext uri="{FF2B5EF4-FFF2-40B4-BE49-F238E27FC236}">
                <a16:creationId xmlns:a16="http://schemas.microsoft.com/office/drawing/2014/main" id="{46F6239C-A39E-3A8B-0954-76CE34E65BDA}"/>
              </a:ext>
            </a:extLst>
          </p:cNvPr>
          <p:cNvPicPr>
            <a:picLocks noGrp="1" noChangeAspect="1"/>
          </p:cNvPicPr>
          <p:nvPr>
            <p:ph idx="1"/>
          </p:nvPr>
        </p:nvPicPr>
        <p:blipFill>
          <a:blip r:embed="rId2"/>
          <a:stretch>
            <a:fillRect/>
          </a:stretch>
        </p:blipFill>
        <p:spPr>
          <a:xfrm>
            <a:off x="1862743" y="1711469"/>
            <a:ext cx="8737600" cy="4411980"/>
          </a:xfrm>
          <a:prstGeom prst="rect">
            <a:avLst/>
          </a:prstGeom>
        </p:spPr>
      </p:pic>
      <p:sp>
        <p:nvSpPr>
          <p:cNvPr id="4" name="Date Placeholder 3">
            <a:extLst>
              <a:ext uri="{FF2B5EF4-FFF2-40B4-BE49-F238E27FC236}">
                <a16:creationId xmlns:a16="http://schemas.microsoft.com/office/drawing/2014/main" id="{77D0E140-653D-CA78-65BB-BF7097268656}"/>
              </a:ext>
            </a:extLst>
          </p:cNvPr>
          <p:cNvSpPr>
            <a:spLocks noGrp="1"/>
          </p:cNvSpPr>
          <p:nvPr>
            <p:ph type="dt" sz="half" idx="10"/>
          </p:nvPr>
        </p:nvSpPr>
        <p:spPr/>
        <p:txBody>
          <a:bodyPr/>
          <a:lstStyle/>
          <a:p>
            <a:fld id="{81400141-4972-4BE1-A0DE-9A607F90DA19}" type="datetime1">
              <a:t>12/3/2025</a:t>
            </a:fld>
            <a:endParaRPr lang="en-US"/>
          </a:p>
        </p:txBody>
      </p:sp>
      <p:sp>
        <p:nvSpPr>
          <p:cNvPr id="5" name="Footer Placeholder 4">
            <a:extLst>
              <a:ext uri="{FF2B5EF4-FFF2-40B4-BE49-F238E27FC236}">
                <a16:creationId xmlns:a16="http://schemas.microsoft.com/office/drawing/2014/main" id="{0D93F800-CD9D-3DD7-F2F2-B621506866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555EB96-AE4F-2B52-E158-7C0CB8660E93}"/>
              </a:ext>
            </a:extLst>
          </p:cNvPr>
          <p:cNvSpPr>
            <a:spLocks noGrp="1"/>
          </p:cNvSpPr>
          <p:nvPr>
            <p:ph type="sldNum" sz="quarter" idx="12"/>
          </p:nvPr>
        </p:nvSpPr>
        <p:spPr/>
        <p:txBody>
          <a:bodyPr/>
          <a:lstStyle/>
          <a:p>
            <a:fld id="{E30AF5A0-43BB-4336-8627-9123B9144D80}" type="slidenum">
              <a:rPr lang="en-US" dirty="0"/>
              <a:t>10</a:t>
            </a:fld>
            <a:endParaRPr lang="en-US"/>
          </a:p>
        </p:txBody>
      </p:sp>
    </p:spTree>
    <p:extLst>
      <p:ext uri="{BB962C8B-B14F-4D97-AF65-F5344CB8AC3E}">
        <p14:creationId xmlns:p14="http://schemas.microsoft.com/office/powerpoint/2010/main" val="339558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0FD8-8F19-8181-5F33-BBA6289B9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CB444-A27F-2535-47FB-BF8775D940C0}"/>
              </a:ext>
            </a:extLst>
          </p:cNvPr>
          <p:cNvSpPr>
            <a:spLocks noGrp="1"/>
          </p:cNvSpPr>
          <p:nvPr>
            <p:ph type="title"/>
          </p:nvPr>
        </p:nvSpPr>
        <p:spPr/>
        <p:txBody>
          <a:bodyPr/>
          <a:lstStyle/>
          <a:p>
            <a:r>
              <a:rPr lang="en-US"/>
              <a:t>Line chart (Sectors)</a:t>
            </a:r>
          </a:p>
        </p:txBody>
      </p:sp>
      <p:sp>
        <p:nvSpPr>
          <p:cNvPr id="4" name="Date Placeholder 3">
            <a:extLst>
              <a:ext uri="{FF2B5EF4-FFF2-40B4-BE49-F238E27FC236}">
                <a16:creationId xmlns:a16="http://schemas.microsoft.com/office/drawing/2014/main" id="{6FE1C78C-9238-3497-86A8-9251B1285983}"/>
              </a:ext>
            </a:extLst>
          </p:cNvPr>
          <p:cNvSpPr>
            <a:spLocks noGrp="1"/>
          </p:cNvSpPr>
          <p:nvPr>
            <p:ph type="dt" sz="half" idx="10"/>
          </p:nvPr>
        </p:nvSpPr>
        <p:spPr/>
        <p:txBody>
          <a:bodyPr/>
          <a:lstStyle/>
          <a:p>
            <a:fld id="{81400141-4972-4BE1-A0DE-9A607F90DA19}" type="datetime1">
              <a:t>12/3/2025</a:t>
            </a:fld>
            <a:endParaRPr lang="en-US"/>
          </a:p>
        </p:txBody>
      </p:sp>
      <p:sp>
        <p:nvSpPr>
          <p:cNvPr id="5" name="Footer Placeholder 4">
            <a:extLst>
              <a:ext uri="{FF2B5EF4-FFF2-40B4-BE49-F238E27FC236}">
                <a16:creationId xmlns:a16="http://schemas.microsoft.com/office/drawing/2014/main" id="{8F4BD8C9-AD56-AE86-EA28-5F85386512F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F48DF8E-1AFA-7461-F21B-610B9EB209F5}"/>
              </a:ext>
            </a:extLst>
          </p:cNvPr>
          <p:cNvSpPr>
            <a:spLocks noGrp="1"/>
          </p:cNvSpPr>
          <p:nvPr>
            <p:ph type="sldNum" sz="quarter" idx="12"/>
          </p:nvPr>
        </p:nvSpPr>
        <p:spPr/>
        <p:txBody>
          <a:bodyPr/>
          <a:lstStyle/>
          <a:p>
            <a:fld id="{E30AF5A0-43BB-4336-8627-9123B9144D80}" type="slidenum">
              <a:rPr lang="en-US" dirty="0"/>
              <a:t>11</a:t>
            </a:fld>
            <a:endParaRPr lang="en-US"/>
          </a:p>
        </p:txBody>
      </p:sp>
      <p:pic>
        <p:nvPicPr>
          <p:cNvPr id="8" name="Picture 7" descr="A graph showing the number of companies in the company&#10;&#10;AI-generated content may be incorrect.">
            <a:extLst>
              <a:ext uri="{FF2B5EF4-FFF2-40B4-BE49-F238E27FC236}">
                <a16:creationId xmlns:a16="http://schemas.microsoft.com/office/drawing/2014/main" id="{57CCD5A9-0581-726F-18CE-13A4D04F980B}"/>
              </a:ext>
            </a:extLst>
          </p:cNvPr>
          <p:cNvPicPr>
            <a:picLocks noChangeAspect="1"/>
          </p:cNvPicPr>
          <p:nvPr/>
        </p:nvPicPr>
        <p:blipFill>
          <a:blip r:embed="rId2"/>
          <a:stretch>
            <a:fillRect/>
          </a:stretch>
        </p:blipFill>
        <p:spPr>
          <a:xfrm>
            <a:off x="1738936" y="1716872"/>
            <a:ext cx="8608695" cy="4406900"/>
          </a:xfrm>
          <a:prstGeom prst="rect">
            <a:avLst/>
          </a:prstGeom>
        </p:spPr>
      </p:pic>
      <p:sp>
        <p:nvSpPr>
          <p:cNvPr id="10" name="Content Placeholder 9">
            <a:extLst>
              <a:ext uri="{FF2B5EF4-FFF2-40B4-BE49-F238E27FC236}">
                <a16:creationId xmlns:a16="http://schemas.microsoft.com/office/drawing/2014/main" id="{CE8CB5F6-F72C-6F8B-B684-FA3AD69396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77979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CA210-F5FD-9457-2D42-2C644CE27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0FE9A-5361-D82A-44A8-CFB3E7B9F46B}"/>
              </a:ext>
            </a:extLst>
          </p:cNvPr>
          <p:cNvSpPr>
            <a:spLocks noGrp="1"/>
          </p:cNvSpPr>
          <p:nvPr>
            <p:ph type="title"/>
          </p:nvPr>
        </p:nvSpPr>
        <p:spPr/>
        <p:txBody>
          <a:bodyPr/>
          <a:lstStyle/>
          <a:p>
            <a:r>
              <a:rPr lang="en-US"/>
              <a:t>Line chart (Sectors)</a:t>
            </a:r>
          </a:p>
        </p:txBody>
      </p:sp>
      <p:pic>
        <p:nvPicPr>
          <p:cNvPr id="7" name="Content Placeholder 6">
            <a:extLst>
              <a:ext uri="{FF2B5EF4-FFF2-40B4-BE49-F238E27FC236}">
                <a16:creationId xmlns:a16="http://schemas.microsoft.com/office/drawing/2014/main" id="{69CFD176-6800-DDF7-AE2E-33DA52AEE814}"/>
              </a:ext>
            </a:extLst>
          </p:cNvPr>
          <p:cNvPicPr>
            <a:picLocks noGrp="1" noChangeAspect="1"/>
          </p:cNvPicPr>
          <p:nvPr>
            <p:ph idx="1"/>
          </p:nvPr>
        </p:nvPicPr>
        <p:blipFill>
          <a:blip r:embed="rId2"/>
          <a:stretch>
            <a:fillRect/>
          </a:stretch>
        </p:blipFill>
        <p:spPr>
          <a:xfrm>
            <a:off x="2039333" y="1713595"/>
            <a:ext cx="8261350" cy="4326255"/>
          </a:xfrm>
          <a:prstGeom prst="rect">
            <a:avLst/>
          </a:prstGeom>
        </p:spPr>
      </p:pic>
      <p:sp>
        <p:nvSpPr>
          <p:cNvPr id="4" name="Date Placeholder 3">
            <a:extLst>
              <a:ext uri="{FF2B5EF4-FFF2-40B4-BE49-F238E27FC236}">
                <a16:creationId xmlns:a16="http://schemas.microsoft.com/office/drawing/2014/main" id="{551CB7A3-B163-7CEE-E5F1-2EA9B1C29F91}"/>
              </a:ext>
            </a:extLst>
          </p:cNvPr>
          <p:cNvSpPr>
            <a:spLocks noGrp="1"/>
          </p:cNvSpPr>
          <p:nvPr>
            <p:ph type="dt" sz="half" idx="10"/>
          </p:nvPr>
        </p:nvSpPr>
        <p:spPr/>
        <p:txBody>
          <a:bodyPr/>
          <a:lstStyle/>
          <a:p>
            <a:fld id="{81400141-4972-4BE1-A0DE-9A607F90DA19}" type="datetime1">
              <a:t>12/3/2025</a:t>
            </a:fld>
            <a:endParaRPr lang="en-US"/>
          </a:p>
        </p:txBody>
      </p:sp>
      <p:sp>
        <p:nvSpPr>
          <p:cNvPr id="5" name="Footer Placeholder 4">
            <a:extLst>
              <a:ext uri="{FF2B5EF4-FFF2-40B4-BE49-F238E27FC236}">
                <a16:creationId xmlns:a16="http://schemas.microsoft.com/office/drawing/2014/main" id="{DBE63D20-8CCF-72D2-7E9A-0A23F598D42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0DBDC46-6245-C057-63C1-D69725D34ABC}"/>
              </a:ext>
            </a:extLst>
          </p:cNvPr>
          <p:cNvSpPr>
            <a:spLocks noGrp="1"/>
          </p:cNvSpPr>
          <p:nvPr>
            <p:ph type="sldNum" sz="quarter" idx="12"/>
          </p:nvPr>
        </p:nvSpPr>
        <p:spPr/>
        <p:txBody>
          <a:bodyPr/>
          <a:lstStyle/>
          <a:p>
            <a:fld id="{E30AF5A0-43BB-4336-8627-9123B9144D80}" type="slidenum">
              <a:rPr lang="en-US" dirty="0"/>
              <a:t>12</a:t>
            </a:fld>
            <a:endParaRPr lang="en-US"/>
          </a:p>
        </p:txBody>
      </p:sp>
    </p:spTree>
    <p:extLst>
      <p:ext uri="{BB962C8B-B14F-4D97-AF65-F5344CB8AC3E}">
        <p14:creationId xmlns:p14="http://schemas.microsoft.com/office/powerpoint/2010/main" val="2244487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2B982-03BA-2BAC-4025-F1FFE478FE32}"/>
              </a:ext>
            </a:extLst>
          </p:cNvPr>
          <p:cNvSpPr>
            <a:spLocks noGrp="1"/>
          </p:cNvSpPr>
          <p:nvPr>
            <p:ph type="title"/>
          </p:nvPr>
        </p:nvSpPr>
        <p:spPr>
          <a:xfrm>
            <a:off x="700635" y="922096"/>
            <a:ext cx="10691265" cy="1371030"/>
          </a:xfrm>
        </p:spPr>
        <p:txBody>
          <a:bodyPr anchor="t">
            <a:normAutofit/>
          </a:bodyPr>
          <a:lstStyle/>
          <a:p>
            <a:r>
              <a:rPr lang="en-US" dirty="0"/>
              <a:t>Volatility Analysis</a:t>
            </a:r>
          </a:p>
        </p:txBody>
      </p:sp>
      <p:pic>
        <p:nvPicPr>
          <p:cNvPr id="12" name="Content Placeholder 11">
            <a:extLst>
              <a:ext uri="{FF2B5EF4-FFF2-40B4-BE49-F238E27FC236}">
                <a16:creationId xmlns:a16="http://schemas.microsoft.com/office/drawing/2014/main" id="{165AAB95-AD2E-6B9A-A0F0-F6BB448FF334}"/>
              </a:ext>
            </a:extLst>
          </p:cNvPr>
          <p:cNvPicPr>
            <a:picLocks noGrp="1" noChangeAspect="1"/>
          </p:cNvPicPr>
          <p:nvPr>
            <p:ph idx="1"/>
          </p:nvPr>
        </p:nvPicPr>
        <p:blipFill>
          <a:blip r:embed="rId3"/>
          <a:stretch>
            <a:fillRect/>
          </a:stretch>
        </p:blipFill>
        <p:spPr>
          <a:xfrm>
            <a:off x="2315258" y="1838384"/>
            <a:ext cx="7560342" cy="4078540"/>
          </a:xfrm>
          <a:prstGeom prst="rect">
            <a:avLst/>
          </a:prstGeom>
          <a:noFill/>
        </p:spPr>
      </p:pic>
      <p:sp>
        <p:nvSpPr>
          <p:cNvPr id="4" name="Date Placeholder 3">
            <a:extLst>
              <a:ext uri="{FF2B5EF4-FFF2-40B4-BE49-F238E27FC236}">
                <a16:creationId xmlns:a16="http://schemas.microsoft.com/office/drawing/2014/main" id="{B56149BD-DD4A-5D0C-2938-88F4A232601E}"/>
              </a:ext>
            </a:extLst>
          </p:cNvPr>
          <p:cNvSpPr>
            <a:spLocks noGrp="1"/>
          </p:cNvSpPr>
          <p:nvPr>
            <p:ph type="dt" sz="half" idx="10"/>
          </p:nvPr>
        </p:nvSpPr>
        <p:spPr>
          <a:xfrm>
            <a:off x="8369448" y="6356350"/>
            <a:ext cx="2592594" cy="365125"/>
          </a:xfrm>
        </p:spPr>
        <p:txBody>
          <a:bodyPr anchor="ctr">
            <a:normAutofit/>
          </a:bodyPr>
          <a:lstStyle/>
          <a:p>
            <a:pPr>
              <a:spcAft>
                <a:spcPts val="600"/>
              </a:spcAft>
            </a:pPr>
            <a:fld id="{CE64988C-A3D0-41A4-91F9-49BDC87699CC}" type="datetime1">
              <a:rPr lang="en-US"/>
              <a:pPr>
                <a:spcAft>
                  <a:spcPts val="600"/>
                </a:spcAft>
              </a:pPr>
              <a:t>12/3/2025</a:t>
            </a:fld>
            <a:endParaRPr lang="en-US"/>
          </a:p>
        </p:txBody>
      </p:sp>
      <p:sp>
        <p:nvSpPr>
          <p:cNvPr id="5" name="Footer Placeholder 4">
            <a:extLst>
              <a:ext uri="{FF2B5EF4-FFF2-40B4-BE49-F238E27FC236}">
                <a16:creationId xmlns:a16="http://schemas.microsoft.com/office/drawing/2014/main" id="{795E9B4B-B9EE-2C6A-1D6F-0FB083CDCB4F}"/>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A0620785-02F5-1667-11A4-C9BC6A5E4618}"/>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13</a:t>
            </a:fld>
            <a:endParaRPr lang="en-US"/>
          </a:p>
        </p:txBody>
      </p:sp>
    </p:spTree>
    <p:extLst>
      <p:ext uri="{BB962C8B-B14F-4D97-AF65-F5344CB8AC3E}">
        <p14:creationId xmlns:p14="http://schemas.microsoft.com/office/powerpoint/2010/main" val="3111118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D12DE-21A0-93C4-3135-46B3C52A3772}"/>
              </a:ext>
            </a:extLst>
          </p:cNvPr>
          <p:cNvSpPr>
            <a:spLocks noGrp="1"/>
          </p:cNvSpPr>
          <p:nvPr>
            <p:ph type="title"/>
          </p:nvPr>
        </p:nvSpPr>
        <p:spPr/>
        <p:txBody>
          <a:bodyPr/>
          <a:lstStyle/>
          <a:p>
            <a:r>
              <a:rPr lang="en-US"/>
              <a:t>CORRELATION ANALYSIS</a:t>
            </a:r>
          </a:p>
        </p:txBody>
      </p:sp>
      <p:pic>
        <p:nvPicPr>
          <p:cNvPr id="7" name="Content Placeholder 6" descr="A screenshot of a graph&#10;&#10;AI-generated content may be incorrect.">
            <a:extLst>
              <a:ext uri="{FF2B5EF4-FFF2-40B4-BE49-F238E27FC236}">
                <a16:creationId xmlns:a16="http://schemas.microsoft.com/office/drawing/2014/main" id="{F5FBBF78-C72A-4348-D34B-6D7F1C2FB9B4}"/>
              </a:ext>
            </a:extLst>
          </p:cNvPr>
          <p:cNvPicPr>
            <a:picLocks noGrp="1" noChangeAspect="1"/>
          </p:cNvPicPr>
          <p:nvPr>
            <p:ph idx="1"/>
          </p:nvPr>
        </p:nvPicPr>
        <p:blipFill>
          <a:blip r:embed="rId2"/>
          <a:stretch>
            <a:fillRect/>
          </a:stretch>
        </p:blipFill>
        <p:spPr>
          <a:xfrm>
            <a:off x="97626" y="2296662"/>
            <a:ext cx="3123565" cy="2787015"/>
          </a:xfrm>
          <a:prstGeom prst="rect">
            <a:avLst/>
          </a:prstGeom>
        </p:spPr>
      </p:pic>
      <p:sp>
        <p:nvSpPr>
          <p:cNvPr id="4" name="Date Placeholder 3">
            <a:extLst>
              <a:ext uri="{FF2B5EF4-FFF2-40B4-BE49-F238E27FC236}">
                <a16:creationId xmlns:a16="http://schemas.microsoft.com/office/drawing/2014/main" id="{6D422F2C-50FE-145F-2B67-D21C5CDD8549}"/>
              </a:ext>
            </a:extLst>
          </p:cNvPr>
          <p:cNvSpPr>
            <a:spLocks noGrp="1"/>
          </p:cNvSpPr>
          <p:nvPr>
            <p:ph type="dt" sz="half" idx="10"/>
          </p:nvPr>
        </p:nvSpPr>
        <p:spPr/>
        <p:txBody>
          <a:bodyPr/>
          <a:lstStyle/>
          <a:p>
            <a:fld id="{7E9C1F0E-031A-4F13-A84E-F07817614A96}" type="datetime1">
              <a:t>12/3/2025</a:t>
            </a:fld>
            <a:endParaRPr lang="en-US"/>
          </a:p>
        </p:txBody>
      </p:sp>
      <p:sp>
        <p:nvSpPr>
          <p:cNvPr id="5" name="Footer Placeholder 4">
            <a:extLst>
              <a:ext uri="{FF2B5EF4-FFF2-40B4-BE49-F238E27FC236}">
                <a16:creationId xmlns:a16="http://schemas.microsoft.com/office/drawing/2014/main" id="{FEBAF8AB-9C3D-968E-AF61-11AA4033DC4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B866797-322B-D5D7-4716-8A1D1822F0FC}"/>
              </a:ext>
            </a:extLst>
          </p:cNvPr>
          <p:cNvSpPr>
            <a:spLocks noGrp="1"/>
          </p:cNvSpPr>
          <p:nvPr>
            <p:ph type="sldNum" sz="quarter" idx="12"/>
          </p:nvPr>
        </p:nvSpPr>
        <p:spPr/>
        <p:txBody>
          <a:bodyPr/>
          <a:lstStyle/>
          <a:p>
            <a:fld id="{E30AF5A0-43BB-4336-8627-9123B9144D80}" type="slidenum">
              <a:rPr lang="en-US" dirty="0"/>
              <a:t>14</a:t>
            </a:fld>
            <a:endParaRPr lang="en-US"/>
          </a:p>
        </p:txBody>
      </p:sp>
      <p:pic>
        <p:nvPicPr>
          <p:cNvPr id="8" name="Picture 7" descr="A screenshot of a graph&#10;&#10;AI-generated content may be incorrect.">
            <a:extLst>
              <a:ext uri="{FF2B5EF4-FFF2-40B4-BE49-F238E27FC236}">
                <a16:creationId xmlns:a16="http://schemas.microsoft.com/office/drawing/2014/main" id="{A62209D4-3A09-CC93-77F5-0419134B2CAA}"/>
              </a:ext>
            </a:extLst>
          </p:cNvPr>
          <p:cNvPicPr>
            <a:picLocks noChangeAspect="1"/>
          </p:cNvPicPr>
          <p:nvPr/>
        </p:nvPicPr>
        <p:blipFill>
          <a:blip r:embed="rId3"/>
          <a:stretch>
            <a:fillRect/>
          </a:stretch>
        </p:blipFill>
        <p:spPr>
          <a:xfrm>
            <a:off x="3408997" y="1458278"/>
            <a:ext cx="5272405" cy="4703445"/>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61DEA4F6-D97B-2ADF-FC87-C89DC18C49AC}"/>
              </a:ext>
            </a:extLst>
          </p:cNvPr>
          <p:cNvPicPr>
            <a:picLocks noChangeAspect="1"/>
          </p:cNvPicPr>
          <p:nvPr/>
        </p:nvPicPr>
        <p:blipFill>
          <a:blip r:embed="rId4"/>
          <a:stretch>
            <a:fillRect/>
          </a:stretch>
        </p:blipFill>
        <p:spPr>
          <a:xfrm>
            <a:off x="8839690" y="2293726"/>
            <a:ext cx="3121661" cy="2787968"/>
          </a:xfrm>
          <a:prstGeom prst="rect">
            <a:avLst/>
          </a:prstGeom>
        </p:spPr>
      </p:pic>
    </p:spTree>
    <p:extLst>
      <p:ext uri="{BB962C8B-B14F-4D97-AF65-F5344CB8AC3E}">
        <p14:creationId xmlns:p14="http://schemas.microsoft.com/office/powerpoint/2010/main" val="666296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0F138-BEE3-5F1A-1BB8-2F51F4228602}"/>
              </a:ext>
            </a:extLst>
          </p:cNvPr>
          <p:cNvSpPr>
            <a:spLocks noGrp="1"/>
          </p:cNvSpPr>
          <p:nvPr>
            <p:ph type="title"/>
          </p:nvPr>
        </p:nvSpPr>
        <p:spPr/>
        <p:txBody>
          <a:bodyPr/>
          <a:lstStyle/>
          <a:p>
            <a:r>
              <a:rPr lang="en-US"/>
              <a:t>Association Mining</a:t>
            </a:r>
          </a:p>
        </p:txBody>
      </p:sp>
      <p:sp>
        <p:nvSpPr>
          <p:cNvPr id="4" name="Date Placeholder 3">
            <a:extLst>
              <a:ext uri="{FF2B5EF4-FFF2-40B4-BE49-F238E27FC236}">
                <a16:creationId xmlns:a16="http://schemas.microsoft.com/office/drawing/2014/main" id="{6E9E113E-984F-6B69-303F-3E8BC69FE0AA}"/>
              </a:ext>
            </a:extLst>
          </p:cNvPr>
          <p:cNvSpPr>
            <a:spLocks noGrp="1"/>
          </p:cNvSpPr>
          <p:nvPr>
            <p:ph type="dt" sz="half" idx="10"/>
          </p:nvPr>
        </p:nvSpPr>
        <p:spPr/>
        <p:txBody>
          <a:bodyPr/>
          <a:lstStyle/>
          <a:p>
            <a:fld id="{ED9C436C-0C32-4B68-BC9B-C3470B43228D}" type="datetime1">
              <a:t>12/3/2025</a:t>
            </a:fld>
            <a:endParaRPr lang="en-US"/>
          </a:p>
        </p:txBody>
      </p:sp>
      <p:sp>
        <p:nvSpPr>
          <p:cNvPr id="5" name="Footer Placeholder 4">
            <a:extLst>
              <a:ext uri="{FF2B5EF4-FFF2-40B4-BE49-F238E27FC236}">
                <a16:creationId xmlns:a16="http://schemas.microsoft.com/office/drawing/2014/main" id="{190FAC7A-0D9D-5F6A-6A24-540CE298B5C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B59052C-617E-41F0-D137-8DA6F2AA1436}"/>
              </a:ext>
            </a:extLst>
          </p:cNvPr>
          <p:cNvSpPr>
            <a:spLocks noGrp="1"/>
          </p:cNvSpPr>
          <p:nvPr>
            <p:ph type="sldNum" sz="quarter" idx="12"/>
          </p:nvPr>
        </p:nvSpPr>
        <p:spPr/>
        <p:txBody>
          <a:bodyPr/>
          <a:lstStyle/>
          <a:p>
            <a:fld id="{E30AF5A0-43BB-4336-8627-9123B9144D80}" type="slidenum">
              <a:rPr lang="en-US" dirty="0"/>
              <a:t>13</a:t>
            </a:fld>
            <a:endParaRPr lang="en-US"/>
          </a:p>
        </p:txBody>
      </p:sp>
      <p:pic>
        <p:nvPicPr>
          <p:cNvPr id="8" name="Picture 7" descr="A screenshot of a computer program&#10;&#10;AI-generated content may be incorrect.">
            <a:extLst>
              <a:ext uri="{FF2B5EF4-FFF2-40B4-BE49-F238E27FC236}">
                <a16:creationId xmlns:a16="http://schemas.microsoft.com/office/drawing/2014/main" id="{07FA9C1D-A12C-A7E7-BAF3-BA4C13199864}"/>
              </a:ext>
            </a:extLst>
          </p:cNvPr>
          <p:cNvPicPr>
            <a:picLocks noChangeAspect="1"/>
          </p:cNvPicPr>
          <p:nvPr/>
        </p:nvPicPr>
        <p:blipFill>
          <a:blip r:embed="rId2"/>
          <a:stretch>
            <a:fillRect/>
          </a:stretch>
        </p:blipFill>
        <p:spPr>
          <a:xfrm>
            <a:off x="720090" y="1713547"/>
            <a:ext cx="6057900" cy="2943225"/>
          </a:xfrm>
          <a:prstGeom prst="rect">
            <a:avLst/>
          </a:prstGeom>
        </p:spPr>
      </p:pic>
      <p:pic>
        <p:nvPicPr>
          <p:cNvPr id="7" name="Content Placeholder 6" descr="A screenshot of a computer program&#10;&#10;AI-generated content may be incorrect.">
            <a:extLst>
              <a:ext uri="{FF2B5EF4-FFF2-40B4-BE49-F238E27FC236}">
                <a16:creationId xmlns:a16="http://schemas.microsoft.com/office/drawing/2014/main" id="{F38492D8-9801-4607-C12D-AA66440F7FF6}"/>
              </a:ext>
            </a:extLst>
          </p:cNvPr>
          <p:cNvPicPr>
            <a:picLocks noGrp="1" noChangeAspect="1"/>
          </p:cNvPicPr>
          <p:nvPr>
            <p:ph idx="1"/>
          </p:nvPr>
        </p:nvPicPr>
        <p:blipFill>
          <a:blip r:embed="rId3"/>
          <a:stretch>
            <a:fillRect/>
          </a:stretch>
        </p:blipFill>
        <p:spPr>
          <a:xfrm>
            <a:off x="4518775" y="2839582"/>
            <a:ext cx="6875145" cy="3193415"/>
          </a:xfrm>
          <a:prstGeom prst="rect">
            <a:avLst/>
          </a:prstGeom>
        </p:spPr>
      </p:pic>
    </p:spTree>
    <p:extLst>
      <p:ext uri="{BB962C8B-B14F-4D97-AF65-F5344CB8AC3E}">
        <p14:creationId xmlns:p14="http://schemas.microsoft.com/office/powerpoint/2010/main" val="4195183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7FC48-7311-7B9C-3CC2-5D553B4C486B}"/>
              </a:ext>
            </a:extLst>
          </p:cNvPr>
          <p:cNvSpPr>
            <a:spLocks noGrp="1"/>
          </p:cNvSpPr>
          <p:nvPr>
            <p:ph type="title"/>
          </p:nvPr>
        </p:nvSpPr>
        <p:spPr/>
        <p:txBody>
          <a:bodyPr/>
          <a:lstStyle/>
          <a:p>
            <a:r>
              <a:rPr lang="en-US">
                <a:ea typeface="+mj-lt"/>
                <a:cs typeface="+mj-lt"/>
              </a:rPr>
              <a:t>Structural Break Test (Chow Test)</a:t>
            </a:r>
            <a:endParaRPr lang="en-US"/>
          </a:p>
        </p:txBody>
      </p:sp>
      <p:graphicFrame>
        <p:nvGraphicFramePr>
          <p:cNvPr id="8" name="Content Placeholder 7">
            <a:extLst>
              <a:ext uri="{FF2B5EF4-FFF2-40B4-BE49-F238E27FC236}">
                <a16:creationId xmlns:a16="http://schemas.microsoft.com/office/drawing/2014/main" id="{0CFFBCE7-1FAF-8240-1210-039B5B971A85}"/>
              </a:ext>
            </a:extLst>
          </p:cNvPr>
          <p:cNvGraphicFramePr>
            <a:graphicFrameLocks noGrp="1"/>
          </p:cNvGraphicFramePr>
          <p:nvPr>
            <p:ph idx="1"/>
            <p:extLst>
              <p:ext uri="{D42A27DB-BD31-4B8C-83A1-F6EECF244321}">
                <p14:modId xmlns:p14="http://schemas.microsoft.com/office/powerpoint/2010/main" val="1398932136"/>
              </p:ext>
            </p:extLst>
          </p:nvPr>
        </p:nvGraphicFramePr>
        <p:xfrm>
          <a:off x="1571624" y="2750343"/>
          <a:ext cx="9060593" cy="1439892"/>
        </p:xfrm>
        <a:graphic>
          <a:graphicData uri="http://schemas.openxmlformats.org/drawingml/2006/table">
            <a:tbl>
              <a:tblPr bandRow="1">
                <a:tableStyleId>{21E4AEA4-8DFA-4A89-87EB-49C32662AFE0}</a:tableStyleId>
              </a:tblPr>
              <a:tblGrid>
                <a:gridCol w="1596390">
                  <a:extLst>
                    <a:ext uri="{9D8B030D-6E8A-4147-A177-3AD203B41FA5}">
                      <a16:colId xmlns:a16="http://schemas.microsoft.com/office/drawing/2014/main" val="3679998537"/>
                    </a:ext>
                  </a:extLst>
                </a:gridCol>
                <a:gridCol w="1179314">
                  <a:extLst>
                    <a:ext uri="{9D8B030D-6E8A-4147-A177-3AD203B41FA5}">
                      <a16:colId xmlns:a16="http://schemas.microsoft.com/office/drawing/2014/main" val="4293904991"/>
                    </a:ext>
                  </a:extLst>
                </a:gridCol>
                <a:gridCol w="1977590">
                  <a:extLst>
                    <a:ext uri="{9D8B030D-6E8A-4147-A177-3AD203B41FA5}">
                      <a16:colId xmlns:a16="http://schemas.microsoft.com/office/drawing/2014/main" val="1525146888"/>
                    </a:ext>
                  </a:extLst>
                </a:gridCol>
                <a:gridCol w="4307299">
                  <a:extLst>
                    <a:ext uri="{9D8B030D-6E8A-4147-A177-3AD203B41FA5}">
                      <a16:colId xmlns:a16="http://schemas.microsoft.com/office/drawing/2014/main" val="1643414261"/>
                    </a:ext>
                  </a:extLst>
                </a:gridCol>
              </a:tblGrid>
              <a:tr h="479964">
                <a:tc>
                  <a:txBody>
                    <a:bodyPr/>
                    <a:lstStyle/>
                    <a:p>
                      <a:pPr algn="ctr" rtl="0" fontAlgn="base">
                        <a:lnSpc>
                          <a:spcPts val="1569"/>
                        </a:lnSpc>
                        <a:buNone/>
                      </a:pPr>
                      <a:r>
                        <a:rPr lang="en-US" sz="1200">
                          <a:effectLst/>
                        </a:rPr>
                        <a:t>Break Date </a:t>
                      </a:r>
                    </a:p>
                  </a:txBody>
                  <a:tcPr marL="66675" marR="66675" anchor="ctr"/>
                </a:tc>
                <a:tc>
                  <a:txBody>
                    <a:bodyPr/>
                    <a:lstStyle/>
                    <a:p>
                      <a:pPr algn="ctr" rtl="0" fontAlgn="base">
                        <a:lnSpc>
                          <a:spcPts val="1569"/>
                        </a:lnSpc>
                        <a:buNone/>
                      </a:pPr>
                      <a:r>
                        <a:rPr lang="en-US" sz="1200">
                          <a:effectLst/>
                        </a:rPr>
                        <a:t>F-Statistic </a:t>
                      </a:r>
                    </a:p>
                  </a:txBody>
                  <a:tcPr marL="66675" marR="66675" anchor="ctr"/>
                </a:tc>
                <a:tc>
                  <a:txBody>
                    <a:bodyPr/>
                    <a:lstStyle/>
                    <a:p>
                      <a:pPr algn="ctr" rtl="0" fontAlgn="base">
                        <a:lnSpc>
                          <a:spcPts val="1569"/>
                        </a:lnSpc>
                        <a:buNone/>
                      </a:pPr>
                      <a:r>
                        <a:rPr lang="en-US" sz="1200">
                          <a:effectLst/>
                        </a:rPr>
                        <a:t>p-Value </a:t>
                      </a:r>
                    </a:p>
                  </a:txBody>
                  <a:tcPr marL="66675" marR="66675" anchor="ctr"/>
                </a:tc>
                <a:tc>
                  <a:txBody>
                    <a:bodyPr/>
                    <a:lstStyle/>
                    <a:p>
                      <a:pPr algn="ctr" rtl="0" fontAlgn="base">
                        <a:lnSpc>
                          <a:spcPts val="1569"/>
                        </a:lnSpc>
                        <a:buNone/>
                      </a:pPr>
                      <a:r>
                        <a:rPr lang="en-US" sz="1200">
                          <a:effectLst/>
                        </a:rPr>
                        <a:t>Interpretation </a:t>
                      </a:r>
                    </a:p>
                  </a:txBody>
                  <a:tcPr marL="66675" marR="66675" anchor="ctr"/>
                </a:tc>
                <a:extLst>
                  <a:ext uri="{0D108BD9-81ED-4DB2-BD59-A6C34878D82A}">
                    <a16:rowId xmlns:a16="http://schemas.microsoft.com/office/drawing/2014/main" val="2925015284"/>
                  </a:ext>
                </a:extLst>
              </a:tr>
              <a:tr h="479964">
                <a:tc>
                  <a:txBody>
                    <a:bodyPr/>
                    <a:lstStyle/>
                    <a:p>
                      <a:pPr algn="ctr" rtl="0" fontAlgn="base">
                        <a:lnSpc>
                          <a:spcPts val="1569"/>
                        </a:lnSpc>
                        <a:buNone/>
                      </a:pPr>
                      <a:r>
                        <a:rPr lang="en-US" sz="1200">
                          <a:effectLst/>
                        </a:rPr>
                        <a:t>2020-01-01 </a:t>
                      </a:r>
                    </a:p>
                  </a:txBody>
                  <a:tcPr marL="66675" marR="66675" anchor="ctr"/>
                </a:tc>
                <a:tc>
                  <a:txBody>
                    <a:bodyPr/>
                    <a:lstStyle/>
                    <a:p>
                      <a:pPr algn="ctr" rtl="0" fontAlgn="base">
                        <a:lnSpc>
                          <a:spcPts val="1569"/>
                        </a:lnSpc>
                        <a:buNone/>
                      </a:pPr>
                      <a:r>
                        <a:rPr lang="en-US" sz="1200">
                          <a:effectLst/>
                        </a:rPr>
                        <a:t>4.395 </a:t>
                      </a:r>
                    </a:p>
                  </a:txBody>
                  <a:tcPr marL="66675" marR="66675" anchor="ctr"/>
                </a:tc>
                <a:tc>
                  <a:txBody>
                    <a:bodyPr/>
                    <a:lstStyle/>
                    <a:p>
                      <a:pPr algn="ctr" rtl="0" fontAlgn="base">
                        <a:lnSpc>
                          <a:spcPts val="1569"/>
                        </a:lnSpc>
                        <a:buNone/>
                      </a:pPr>
                      <a:r>
                        <a:rPr lang="en-US" sz="1200">
                          <a:effectLst/>
                        </a:rPr>
                        <a:t>0.0124 </a:t>
                      </a:r>
                    </a:p>
                  </a:txBody>
                  <a:tcPr marL="66675" marR="66675" anchor="ctr"/>
                </a:tc>
                <a:tc>
                  <a:txBody>
                    <a:bodyPr/>
                    <a:lstStyle/>
                    <a:p>
                      <a:pPr algn="ctr" rtl="0" fontAlgn="base">
                        <a:lnSpc>
                          <a:spcPts val="1569"/>
                        </a:lnSpc>
                        <a:buNone/>
                      </a:pPr>
                      <a:r>
                        <a:rPr lang="en-US" sz="1200">
                          <a:effectLst/>
                        </a:rPr>
                        <a:t>Significant structural break at start of chip shortage </a:t>
                      </a:r>
                    </a:p>
                  </a:txBody>
                  <a:tcPr marL="66675" marR="66675" anchor="ctr"/>
                </a:tc>
                <a:extLst>
                  <a:ext uri="{0D108BD9-81ED-4DB2-BD59-A6C34878D82A}">
                    <a16:rowId xmlns:a16="http://schemas.microsoft.com/office/drawing/2014/main" val="4180948544"/>
                  </a:ext>
                </a:extLst>
              </a:tr>
              <a:tr h="479964">
                <a:tc>
                  <a:txBody>
                    <a:bodyPr/>
                    <a:lstStyle/>
                    <a:p>
                      <a:pPr algn="ctr" rtl="0" fontAlgn="base">
                        <a:lnSpc>
                          <a:spcPts val="1569"/>
                        </a:lnSpc>
                        <a:buNone/>
                      </a:pPr>
                      <a:r>
                        <a:rPr lang="en-US" sz="1200">
                          <a:effectLst/>
                        </a:rPr>
                        <a:t>2023-01-01 </a:t>
                      </a:r>
                    </a:p>
                  </a:txBody>
                  <a:tcPr marL="66675" marR="66675" anchor="ctr"/>
                </a:tc>
                <a:tc>
                  <a:txBody>
                    <a:bodyPr/>
                    <a:lstStyle/>
                    <a:p>
                      <a:pPr algn="ctr" rtl="0" fontAlgn="base">
                        <a:lnSpc>
                          <a:spcPts val="1569"/>
                        </a:lnSpc>
                        <a:buNone/>
                      </a:pPr>
                      <a:r>
                        <a:rPr lang="en-US" sz="1200">
                          <a:effectLst/>
                        </a:rPr>
                        <a:t>0.701 </a:t>
                      </a:r>
                    </a:p>
                  </a:txBody>
                  <a:tcPr marL="66675" marR="66675" anchor="ctr"/>
                </a:tc>
                <a:tc>
                  <a:txBody>
                    <a:bodyPr/>
                    <a:lstStyle/>
                    <a:p>
                      <a:pPr algn="ctr" rtl="0" fontAlgn="base">
                        <a:lnSpc>
                          <a:spcPts val="1569"/>
                        </a:lnSpc>
                        <a:buNone/>
                      </a:pPr>
                      <a:r>
                        <a:rPr lang="en-US" sz="1200">
                          <a:effectLst/>
                        </a:rPr>
                        <a:t>0.4963 </a:t>
                      </a:r>
                    </a:p>
                  </a:txBody>
                  <a:tcPr marL="66675" marR="66675" anchor="ctr"/>
                </a:tc>
                <a:tc>
                  <a:txBody>
                    <a:bodyPr/>
                    <a:lstStyle/>
                    <a:p>
                      <a:pPr algn="ctr" rtl="0" fontAlgn="base">
                        <a:lnSpc>
                          <a:spcPts val="1569"/>
                        </a:lnSpc>
                        <a:buNone/>
                      </a:pPr>
                      <a:r>
                        <a:rPr lang="en-US" sz="1200">
                          <a:effectLst/>
                        </a:rPr>
                        <a:t>No structural break; sector stabilizes </a:t>
                      </a:r>
                    </a:p>
                  </a:txBody>
                  <a:tcPr marL="66675" marR="66675" anchor="ctr"/>
                </a:tc>
                <a:extLst>
                  <a:ext uri="{0D108BD9-81ED-4DB2-BD59-A6C34878D82A}">
                    <a16:rowId xmlns:a16="http://schemas.microsoft.com/office/drawing/2014/main" val="1549087340"/>
                  </a:ext>
                </a:extLst>
              </a:tr>
            </a:tbl>
          </a:graphicData>
        </a:graphic>
      </p:graphicFrame>
      <p:sp>
        <p:nvSpPr>
          <p:cNvPr id="4" name="Date Placeholder 3">
            <a:extLst>
              <a:ext uri="{FF2B5EF4-FFF2-40B4-BE49-F238E27FC236}">
                <a16:creationId xmlns:a16="http://schemas.microsoft.com/office/drawing/2014/main" id="{3F1323F1-FE25-7BCB-09AE-6D86377C2E5A}"/>
              </a:ext>
            </a:extLst>
          </p:cNvPr>
          <p:cNvSpPr>
            <a:spLocks noGrp="1"/>
          </p:cNvSpPr>
          <p:nvPr>
            <p:ph type="dt" sz="half" idx="10"/>
          </p:nvPr>
        </p:nvSpPr>
        <p:spPr/>
        <p:txBody>
          <a:bodyPr/>
          <a:lstStyle/>
          <a:p>
            <a:fld id="{A1789817-AD39-450D-9B63-90E1A17E8881}" type="datetime1">
              <a:t>12/3/2025</a:t>
            </a:fld>
            <a:endParaRPr lang="en-US"/>
          </a:p>
        </p:txBody>
      </p:sp>
      <p:sp>
        <p:nvSpPr>
          <p:cNvPr id="5" name="Footer Placeholder 4">
            <a:extLst>
              <a:ext uri="{FF2B5EF4-FFF2-40B4-BE49-F238E27FC236}">
                <a16:creationId xmlns:a16="http://schemas.microsoft.com/office/drawing/2014/main" id="{824F7E61-5796-F46B-C2EE-20CB020C0ED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20052BB-10EE-21F3-096B-C7A184FD67C5}"/>
              </a:ext>
            </a:extLst>
          </p:cNvPr>
          <p:cNvSpPr>
            <a:spLocks noGrp="1"/>
          </p:cNvSpPr>
          <p:nvPr>
            <p:ph type="sldNum" sz="quarter" idx="12"/>
          </p:nvPr>
        </p:nvSpPr>
        <p:spPr/>
        <p:txBody>
          <a:bodyPr/>
          <a:lstStyle/>
          <a:p>
            <a:fld id="{E30AF5A0-43BB-4336-8627-9123B9144D80}" type="slidenum">
              <a:rPr lang="en-US" dirty="0"/>
              <a:t>15</a:t>
            </a:fld>
            <a:endParaRPr lang="en-US"/>
          </a:p>
        </p:txBody>
      </p:sp>
    </p:spTree>
    <p:extLst>
      <p:ext uri="{BB962C8B-B14F-4D97-AF65-F5344CB8AC3E}">
        <p14:creationId xmlns:p14="http://schemas.microsoft.com/office/powerpoint/2010/main" val="2915334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1CE4A-A40C-36D9-2C96-2593593A46CA}"/>
              </a:ext>
            </a:extLst>
          </p:cNvPr>
          <p:cNvSpPr>
            <a:spLocks noGrp="1"/>
          </p:cNvSpPr>
          <p:nvPr>
            <p:ph type="title"/>
          </p:nvPr>
        </p:nvSpPr>
        <p:spPr/>
        <p:txBody>
          <a:bodyPr/>
          <a:lstStyle/>
          <a:p>
            <a:r>
              <a:rPr lang="en-US" dirty="0"/>
              <a:t>Findings</a:t>
            </a:r>
          </a:p>
        </p:txBody>
      </p:sp>
      <p:sp>
        <p:nvSpPr>
          <p:cNvPr id="3" name="Text Placeholder 2">
            <a:extLst>
              <a:ext uri="{FF2B5EF4-FFF2-40B4-BE49-F238E27FC236}">
                <a16:creationId xmlns:a16="http://schemas.microsoft.com/office/drawing/2014/main" id="{3ADA6241-70FD-34B2-3B67-124AE5AAABE8}"/>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Semiconductor sector was </a:t>
            </a:r>
            <a:r>
              <a:rPr lang="en-US" b="1" dirty="0">
                <a:ea typeface="+mn-lt"/>
                <a:cs typeface="+mn-lt"/>
              </a:rPr>
              <a:t>the most sensitive</a:t>
            </a:r>
            <a:r>
              <a:rPr lang="en-US" dirty="0">
                <a:ea typeface="+mn-lt"/>
                <a:cs typeface="+mn-lt"/>
              </a:rPr>
              <a:t> to supply-chain disruption, with volatility far exceeding the broader market.</a:t>
            </a:r>
            <a:endParaRPr lang="en-US" dirty="0"/>
          </a:p>
          <a:p>
            <a:r>
              <a:rPr lang="en-US" dirty="0">
                <a:ea typeface="+mn-lt"/>
                <a:cs typeface="+mn-lt"/>
              </a:rPr>
              <a:t>Directly impacted sectors (consumer electronics, automotive, telecom) experienced pronounced performance dips during 2020–2022.</a:t>
            </a:r>
            <a:endParaRPr lang="en-US" dirty="0"/>
          </a:p>
          <a:p>
            <a:r>
              <a:rPr lang="en-US" dirty="0">
                <a:ea typeface="+mn-lt"/>
                <a:cs typeface="+mn-lt"/>
              </a:rPr>
              <a:t>Emerging technology sectors, while not directly constrained, showed </a:t>
            </a:r>
            <a:r>
              <a:rPr lang="en-US" b="1" dirty="0">
                <a:ea typeface="+mn-lt"/>
                <a:cs typeface="+mn-lt"/>
              </a:rPr>
              <a:t>amplified volatility</a:t>
            </a:r>
            <a:r>
              <a:rPr lang="en-US" dirty="0">
                <a:ea typeface="+mn-lt"/>
                <a:cs typeface="+mn-lt"/>
              </a:rPr>
              <a:t> due to their reliance on advanced chips and global demand surges.</a:t>
            </a:r>
            <a:endParaRPr lang="en-US" dirty="0"/>
          </a:p>
          <a:p>
            <a:r>
              <a:rPr lang="en-US" dirty="0">
                <a:ea typeface="+mn-lt"/>
                <a:cs typeface="+mn-lt"/>
              </a:rPr>
              <a:t>SOXX vs SPY comparison revealed that traditional equity markets were more resilient compared to semiconductor-focused assets.</a:t>
            </a:r>
            <a:endParaRPr lang="en-US" dirty="0"/>
          </a:p>
          <a:p>
            <a:r>
              <a:rPr lang="en-US" dirty="0">
                <a:ea typeface="+mn-lt"/>
                <a:cs typeface="+mn-lt"/>
              </a:rPr>
              <a:t>Structural break analysis confirms </a:t>
            </a:r>
            <a:r>
              <a:rPr lang="en-US" b="1" dirty="0">
                <a:ea typeface="+mn-lt"/>
                <a:cs typeface="+mn-lt"/>
              </a:rPr>
              <a:t>2020 was a regime-shifting event</a:t>
            </a:r>
            <a:r>
              <a:rPr lang="en-US" dirty="0">
                <a:ea typeface="+mn-lt"/>
                <a:cs typeface="+mn-lt"/>
              </a:rPr>
              <a:t> for semiconductor-linked industries.</a:t>
            </a:r>
            <a:endParaRPr lang="en-US" dirty="0"/>
          </a:p>
          <a:p>
            <a:endParaRPr lang="en-US" dirty="0"/>
          </a:p>
        </p:txBody>
      </p:sp>
      <p:sp>
        <p:nvSpPr>
          <p:cNvPr id="4" name="Date Placeholder 3">
            <a:extLst>
              <a:ext uri="{FF2B5EF4-FFF2-40B4-BE49-F238E27FC236}">
                <a16:creationId xmlns:a16="http://schemas.microsoft.com/office/drawing/2014/main" id="{49D05826-D340-8E57-50F1-571E3D04680B}"/>
              </a:ext>
            </a:extLst>
          </p:cNvPr>
          <p:cNvSpPr>
            <a:spLocks noGrp="1"/>
          </p:cNvSpPr>
          <p:nvPr>
            <p:ph type="dt" sz="half" idx="10"/>
          </p:nvPr>
        </p:nvSpPr>
        <p:spPr/>
        <p:txBody>
          <a:bodyPr/>
          <a:lstStyle/>
          <a:p>
            <a:fld id="{9FFF2E37-2E97-4CE3-858F-23D71F1BCE93}" type="datetime1">
              <a:t>12/3/2025</a:t>
            </a:fld>
            <a:endParaRPr lang="en-US" dirty="0"/>
          </a:p>
        </p:txBody>
      </p:sp>
      <p:sp>
        <p:nvSpPr>
          <p:cNvPr id="5" name="Footer Placeholder 4">
            <a:extLst>
              <a:ext uri="{FF2B5EF4-FFF2-40B4-BE49-F238E27FC236}">
                <a16:creationId xmlns:a16="http://schemas.microsoft.com/office/drawing/2014/main" id="{79889B4E-6EC7-E6EE-9CB9-0F5A940F1C5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C739443-05DE-64EE-537C-D2B1D2BE21D1}"/>
              </a:ext>
            </a:extLst>
          </p:cNvPr>
          <p:cNvSpPr>
            <a:spLocks noGrp="1"/>
          </p:cNvSpPr>
          <p:nvPr>
            <p:ph type="sldNum" sz="quarter" idx="12"/>
          </p:nvPr>
        </p:nvSpPr>
        <p:spPr/>
        <p:txBody>
          <a:bodyPr/>
          <a:lstStyle/>
          <a:p>
            <a:fld id="{E30AF5A0-43BB-4336-8627-9123B9144D80}" type="slidenum">
              <a:rPr lang="en-US" dirty="0"/>
              <a:t>16</a:t>
            </a:fld>
            <a:endParaRPr lang="en-US" dirty="0"/>
          </a:p>
        </p:txBody>
      </p:sp>
    </p:spTree>
    <p:extLst>
      <p:ext uri="{BB962C8B-B14F-4D97-AF65-F5344CB8AC3E}">
        <p14:creationId xmlns:p14="http://schemas.microsoft.com/office/powerpoint/2010/main" val="3037759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28714-9DF4-58F8-DDD2-23F9635D31FA}"/>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DA2296D8-FF72-45BE-6625-9208BCDE2146}"/>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EDE8AB7-73E6-EC6C-297C-8CC494FDD175}"/>
              </a:ext>
            </a:extLst>
          </p:cNvPr>
          <p:cNvSpPr>
            <a:spLocks noGrp="1"/>
          </p:cNvSpPr>
          <p:nvPr>
            <p:ph type="dt" sz="half" idx="10"/>
          </p:nvPr>
        </p:nvSpPr>
        <p:spPr/>
        <p:txBody>
          <a:bodyPr/>
          <a:lstStyle/>
          <a:p>
            <a:fld id="{22C83633-3647-4AE5-B240-7AC0091B2FF3}" type="datetime1">
              <a:t>12/3/2025</a:t>
            </a:fld>
            <a:endParaRPr lang="en-US" dirty="0"/>
          </a:p>
        </p:txBody>
      </p:sp>
      <p:sp>
        <p:nvSpPr>
          <p:cNvPr id="5" name="Footer Placeholder 4">
            <a:extLst>
              <a:ext uri="{FF2B5EF4-FFF2-40B4-BE49-F238E27FC236}">
                <a16:creationId xmlns:a16="http://schemas.microsoft.com/office/drawing/2014/main" id="{1F78074F-8078-4B18-6BC2-72F994D16D2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B8473CD-66E7-8064-4EEC-6C0DD6740669}"/>
              </a:ext>
            </a:extLst>
          </p:cNvPr>
          <p:cNvSpPr>
            <a:spLocks noGrp="1"/>
          </p:cNvSpPr>
          <p:nvPr>
            <p:ph type="sldNum" sz="quarter" idx="12"/>
          </p:nvPr>
        </p:nvSpPr>
        <p:spPr/>
        <p:txBody>
          <a:bodyPr/>
          <a:lstStyle/>
          <a:p>
            <a:fld id="{E30AF5A0-43BB-4336-8627-9123B9144D80}" type="slidenum">
              <a:rPr lang="en-US" dirty="0"/>
              <a:t>17</a:t>
            </a:fld>
            <a:endParaRPr lang="en-US" dirty="0"/>
          </a:p>
        </p:txBody>
      </p:sp>
    </p:spTree>
    <p:extLst>
      <p:ext uri="{BB962C8B-B14F-4D97-AF65-F5344CB8AC3E}">
        <p14:creationId xmlns:p14="http://schemas.microsoft.com/office/powerpoint/2010/main" val="1929520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BFF2A-2582-7DAB-3BDC-A8B3E3DAC573}"/>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005C7BA1-30A6-F8F2-E90D-983DA07B9E5A}"/>
              </a:ext>
            </a:extLst>
          </p:cNvPr>
          <p:cNvSpPr>
            <a:spLocks noGrp="1"/>
          </p:cNvSpPr>
          <p:nvPr>
            <p:ph idx="1"/>
          </p:nvPr>
        </p:nvSpPr>
        <p:spPr/>
        <p:txBody>
          <a:bodyPr vert="horz" lIns="91440" tIns="45720" rIns="91440" bIns="45720" rtlCol="0" anchor="t">
            <a:normAutofit fontScale="92500" lnSpcReduction="20000"/>
          </a:bodyPr>
          <a:lstStyle/>
          <a:p>
            <a:r>
              <a:rPr lang="en-US" b="1" dirty="0">
                <a:ea typeface="+mn-lt"/>
                <a:cs typeface="+mn-lt"/>
              </a:rPr>
              <a:t>Time Constraint:</a:t>
            </a:r>
            <a:br>
              <a:rPr lang="en-US" b="1" dirty="0">
                <a:ea typeface="+mn-lt"/>
                <a:cs typeface="+mn-lt"/>
              </a:rPr>
            </a:br>
            <a:r>
              <a:rPr lang="en-US" b="1" dirty="0">
                <a:ea typeface="+mn-lt"/>
                <a:cs typeface="+mn-lt"/>
              </a:rPr>
              <a:t> Limited ability to expand analysis to additional sectors or apply deeper econometric modeling (e.g., multivariate GARCH).</a:t>
            </a:r>
            <a:endParaRPr lang="en-US" dirty="0"/>
          </a:p>
          <a:p>
            <a:r>
              <a:rPr lang="en-US" b="1" dirty="0">
                <a:ea typeface="+mn-lt"/>
                <a:cs typeface="+mn-lt"/>
              </a:rPr>
              <a:t>Data Storage:</a:t>
            </a:r>
            <a:br>
              <a:rPr lang="en-US" b="1" dirty="0">
                <a:ea typeface="+mn-lt"/>
                <a:cs typeface="+mn-lt"/>
              </a:rPr>
            </a:br>
            <a:r>
              <a:rPr lang="en-US" b="1" dirty="0">
                <a:ea typeface="+mn-lt"/>
                <a:cs typeface="+mn-lt"/>
              </a:rPr>
              <a:t> Polygon minute-level data required heavy filtering and could not be fully stored or processed for all potential tickers.</a:t>
            </a:r>
            <a:endParaRPr lang="en-US" dirty="0"/>
          </a:p>
          <a:p>
            <a:r>
              <a:rPr lang="en-US" b="1" dirty="0">
                <a:ea typeface="+mn-lt"/>
                <a:cs typeface="+mn-lt"/>
              </a:rPr>
              <a:t>Company Selection:</a:t>
            </a:r>
            <a:br>
              <a:rPr lang="en-US" b="1" dirty="0">
                <a:ea typeface="+mn-lt"/>
                <a:cs typeface="+mn-lt"/>
              </a:rPr>
            </a:br>
            <a:r>
              <a:rPr lang="en-US" b="1" dirty="0">
                <a:ea typeface="+mn-lt"/>
                <a:cs typeface="+mn-lt"/>
              </a:rPr>
              <a:t> Sector representatives were limited to available tickers; some industries could not be included.</a:t>
            </a:r>
            <a:endParaRPr lang="en-US" dirty="0"/>
          </a:p>
          <a:p>
            <a:r>
              <a:rPr lang="en-US" b="1" dirty="0">
                <a:ea typeface="+mn-lt"/>
                <a:cs typeface="+mn-lt"/>
              </a:rPr>
              <a:t>Scope of Behavioral Tests:</a:t>
            </a:r>
            <a:br>
              <a:rPr lang="en-US" b="1" dirty="0">
                <a:ea typeface="+mn-lt"/>
                <a:cs typeface="+mn-lt"/>
              </a:rPr>
            </a:br>
            <a:r>
              <a:rPr lang="en-US" b="1" dirty="0">
                <a:ea typeface="+mn-lt"/>
                <a:cs typeface="+mn-lt"/>
              </a:rPr>
              <a:t> NLP sentiment, production data, and supply-chain metrics were not integrated due to time and resource constraints.</a:t>
            </a:r>
            <a:endParaRPr lang="en-US" dirty="0"/>
          </a:p>
        </p:txBody>
      </p:sp>
      <p:sp>
        <p:nvSpPr>
          <p:cNvPr id="4" name="Date Placeholder 3">
            <a:extLst>
              <a:ext uri="{FF2B5EF4-FFF2-40B4-BE49-F238E27FC236}">
                <a16:creationId xmlns:a16="http://schemas.microsoft.com/office/drawing/2014/main" id="{4E718D05-4258-D7DA-31A5-D137DEB411C0}"/>
              </a:ext>
            </a:extLst>
          </p:cNvPr>
          <p:cNvSpPr>
            <a:spLocks noGrp="1"/>
          </p:cNvSpPr>
          <p:nvPr>
            <p:ph type="dt" sz="half" idx="10"/>
          </p:nvPr>
        </p:nvSpPr>
        <p:spPr/>
        <p:txBody>
          <a:bodyPr/>
          <a:lstStyle/>
          <a:p>
            <a:fld id="{FEB83F4C-16E0-41BA-A03F-C17240D8430D}" type="datetime1">
              <a:t>12/3/2025</a:t>
            </a:fld>
            <a:endParaRPr lang="en-US" dirty="0"/>
          </a:p>
        </p:txBody>
      </p:sp>
      <p:sp>
        <p:nvSpPr>
          <p:cNvPr id="5" name="Footer Placeholder 4">
            <a:extLst>
              <a:ext uri="{FF2B5EF4-FFF2-40B4-BE49-F238E27FC236}">
                <a16:creationId xmlns:a16="http://schemas.microsoft.com/office/drawing/2014/main" id="{15638751-B9CC-D2BC-82FA-AB4612FBA8C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F0459C9-F864-32B1-4FC2-FBA1E7CDE59C}"/>
              </a:ext>
            </a:extLst>
          </p:cNvPr>
          <p:cNvSpPr>
            <a:spLocks noGrp="1"/>
          </p:cNvSpPr>
          <p:nvPr>
            <p:ph type="sldNum" sz="quarter" idx="12"/>
          </p:nvPr>
        </p:nvSpPr>
        <p:spPr/>
        <p:txBody>
          <a:bodyPr/>
          <a:lstStyle/>
          <a:p>
            <a:fld id="{E30AF5A0-43BB-4336-8627-9123B9144D80}" type="slidenum">
              <a:rPr lang="en-US" dirty="0"/>
              <a:t>18</a:t>
            </a:fld>
            <a:endParaRPr lang="en-US" dirty="0"/>
          </a:p>
        </p:txBody>
      </p:sp>
    </p:spTree>
    <p:extLst>
      <p:ext uri="{BB962C8B-B14F-4D97-AF65-F5344CB8AC3E}">
        <p14:creationId xmlns:p14="http://schemas.microsoft.com/office/powerpoint/2010/main" val="4018821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4AEC-0639-277F-66C2-BEF403946ACF}"/>
              </a:ext>
            </a:extLst>
          </p:cNvPr>
          <p:cNvSpPr>
            <a:spLocks noGrp="1"/>
          </p:cNvSpPr>
          <p:nvPr>
            <p:ph type="ctrTitle"/>
          </p:nvPr>
        </p:nvSpPr>
        <p:spPr/>
        <p:txBody>
          <a:bodyPr/>
          <a:lstStyle/>
          <a:p>
            <a:r>
              <a:rPr lang="en-US" dirty="0"/>
              <a:t>Thank you</a:t>
            </a:r>
          </a:p>
        </p:txBody>
      </p:sp>
      <p:sp>
        <p:nvSpPr>
          <p:cNvPr id="4" name="Date Placeholder 3">
            <a:extLst>
              <a:ext uri="{FF2B5EF4-FFF2-40B4-BE49-F238E27FC236}">
                <a16:creationId xmlns:a16="http://schemas.microsoft.com/office/drawing/2014/main" id="{501845FA-8EED-2EF6-BB3C-E0DA91A6A9DC}"/>
              </a:ext>
            </a:extLst>
          </p:cNvPr>
          <p:cNvSpPr>
            <a:spLocks noGrp="1"/>
          </p:cNvSpPr>
          <p:nvPr>
            <p:ph type="dt" sz="half" idx="10"/>
          </p:nvPr>
        </p:nvSpPr>
        <p:spPr/>
        <p:txBody>
          <a:bodyPr/>
          <a:lstStyle/>
          <a:p>
            <a:fld id="{E4F6A8AC-399B-49D3-8C77-C10BC26961A0}" type="datetime1">
              <a:t>12/3/2025</a:t>
            </a:fld>
            <a:endParaRPr lang="en-US" dirty="0"/>
          </a:p>
        </p:txBody>
      </p:sp>
      <p:sp>
        <p:nvSpPr>
          <p:cNvPr id="5" name="Footer Placeholder 4">
            <a:extLst>
              <a:ext uri="{FF2B5EF4-FFF2-40B4-BE49-F238E27FC236}">
                <a16:creationId xmlns:a16="http://schemas.microsoft.com/office/drawing/2014/main" id="{0418201E-F611-922E-FEC0-81B45C19B32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06853A8-549B-4A23-FD05-79229FA04C87}"/>
              </a:ext>
            </a:extLst>
          </p:cNvPr>
          <p:cNvSpPr>
            <a:spLocks noGrp="1"/>
          </p:cNvSpPr>
          <p:nvPr>
            <p:ph type="sldNum" sz="quarter" idx="12"/>
          </p:nvPr>
        </p:nvSpPr>
        <p:spPr/>
        <p:txBody>
          <a:bodyPr/>
          <a:lstStyle/>
          <a:p>
            <a:fld id="{E30AF5A0-43BB-4336-8627-9123B9144D80}" type="slidenum">
              <a:rPr lang="en-US" dirty="0"/>
              <a:t>19</a:t>
            </a:fld>
            <a:endParaRPr lang="en-US" dirty="0"/>
          </a:p>
        </p:txBody>
      </p:sp>
    </p:spTree>
    <p:extLst>
      <p:ext uri="{BB962C8B-B14F-4D97-AF65-F5344CB8AC3E}">
        <p14:creationId xmlns:p14="http://schemas.microsoft.com/office/powerpoint/2010/main" val="810347457"/>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20</Slides>
  <Notes>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ChronicleVTI</vt:lpstr>
      <vt:lpstr>Impact of Global Chip shortage on Market</vt:lpstr>
      <vt:lpstr>IntroDuction</vt:lpstr>
      <vt:lpstr>Data</vt:lpstr>
      <vt:lpstr>Data</vt:lpstr>
      <vt:lpstr>EDA</vt:lpstr>
      <vt:lpstr>SQL Query &amp; Data Extraction Summary</vt:lpstr>
      <vt:lpstr>SQL Query &amp; Data Extraction Summary</vt:lpstr>
      <vt:lpstr>ANALYSIS Methods</vt:lpstr>
      <vt:lpstr>Results</vt:lpstr>
      <vt:lpstr>Line chart (INDICES)</vt:lpstr>
      <vt:lpstr>Line chart (Sectors)</vt:lpstr>
      <vt:lpstr>Line chart (Sectors)</vt:lpstr>
      <vt:lpstr>Volatility Analysis</vt:lpstr>
      <vt:lpstr>CORRELATION ANALYSIS</vt:lpstr>
      <vt:lpstr>Association Mining</vt:lpstr>
      <vt:lpstr>Structural Break Test (Chow Test)</vt:lpstr>
      <vt:lpstr>Findings</vt:lpstr>
      <vt:lpstr>Conclusion</vt:lpstr>
      <vt:lpstr>Limitations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203</cp:revision>
  <dcterms:created xsi:type="dcterms:W3CDTF">2025-12-03T06:30:14Z</dcterms:created>
  <dcterms:modified xsi:type="dcterms:W3CDTF">2025-12-04T03:31:39Z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4f9dd6-a4b8-4763-a61d-db8d0cf51108_Enabled">
    <vt:lpwstr>true</vt:lpwstr>
  </property>
  <property fmtid="{D5CDD505-2E9C-101B-9397-08002B2CF9AE}" pid="3" name="MSIP_Label_cc4f9dd6-a4b8-4763-a61d-db8d0cf51108_SetDate">
    <vt:lpwstr>2025-12-03T06:30:31Z</vt:lpwstr>
  </property>
  <property fmtid="{D5CDD505-2E9C-101B-9397-08002B2CF9AE}" pid="4" name="MSIP_Label_cc4f9dd6-a4b8-4763-a61d-db8d0cf51108_Method">
    <vt:lpwstr>Standard</vt:lpwstr>
  </property>
  <property fmtid="{D5CDD505-2E9C-101B-9397-08002B2CF9AE}" pid="5" name="MSIP_Label_cc4f9dd6-a4b8-4763-a61d-db8d0cf51108_Name">
    <vt:lpwstr>defa4170-0d19-0005-0004-bc88714345d2</vt:lpwstr>
  </property>
  <property fmtid="{D5CDD505-2E9C-101B-9397-08002B2CF9AE}" pid="6" name="MSIP_Label_cc4f9dd6-a4b8-4763-a61d-db8d0cf51108_SiteId">
    <vt:lpwstr>b5a5796f-19a9-493f-9cb2-7a88b4e9b123</vt:lpwstr>
  </property>
  <property fmtid="{D5CDD505-2E9C-101B-9397-08002B2CF9AE}" pid="7" name="MSIP_Label_cc4f9dd6-a4b8-4763-a61d-db8d0cf51108_ActionId">
    <vt:lpwstr>3bf179af-06ae-4bb3-a33d-6d7ecfcfbcf8</vt:lpwstr>
  </property>
  <property fmtid="{D5CDD505-2E9C-101B-9397-08002B2CF9AE}" pid="8" name="MSIP_Label_cc4f9dd6-a4b8-4763-a61d-db8d0cf51108_ContentBits">
    <vt:lpwstr>0</vt:lpwstr>
  </property>
  <property fmtid="{D5CDD505-2E9C-101B-9397-08002B2CF9AE}" pid="9" name="MSIP_Label_cc4f9dd6-a4b8-4763-a61d-db8d0cf51108_Tag">
    <vt:lpwstr>10, 3, 0, 2</vt:lpwstr>
  </property>
</Properties>
</file>